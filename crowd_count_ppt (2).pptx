
<file path=[Content_Types].xml><?xml version="1.0" encoding="utf-8"?>
<Types xmlns="http://schemas.openxmlformats.org/package/2006/content-types">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notesMasters/notesMaster1.xml" ContentType="application/vnd.openxmlformats-officedocument.presentationml.notes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theme/theme2.xml" ContentType="application/vnd.openxmlformats-officedocument.them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797" r:id="rId4"/>
  </p:sldMasterIdLst>
  <p:notesMasterIdLst>
    <p:notesMasterId r:id="rId22"/>
  </p:notesMasterIdLst>
  <p:sldIdLst>
    <p:sldId id="257" r:id="rId5"/>
    <p:sldId id="259" r:id="rId6"/>
    <p:sldId id="260" r:id="rId7"/>
    <p:sldId id="261" r:id="rId8"/>
    <p:sldId id="262" r:id="rId9"/>
    <p:sldId id="263" r:id="rId10"/>
    <p:sldId id="264" r:id="rId11"/>
    <p:sldId id="271" r:id="rId12"/>
    <p:sldId id="265" r:id="rId13"/>
    <p:sldId id="270" r:id="rId14"/>
    <p:sldId id="269" r:id="rId15"/>
    <p:sldId id="275" r:id="rId16"/>
    <p:sldId id="274" r:id="rId17"/>
    <p:sldId id="266" r:id="rId18"/>
    <p:sldId id="267" r:id="rId19"/>
    <p:sldId id="268" r:id="rId20"/>
    <p:sldId id="273" r:id="rId21"/>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Shanta Angadageri" initials="SA" lastIdx="1" clrIdx="0">
    <p:extLst>
      <p:ext uri="{19B8F6BF-5375-455C-9EA6-DF929625EA0E}">
        <p15:presenceInfo xmlns:p15="http://schemas.microsoft.com/office/powerpoint/2012/main" userId="76232d884ffc2683" providerId="Windows Live"/>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995" autoAdjust="0"/>
    <p:restoredTop sz="94619" autoAdjust="0"/>
  </p:normalViewPr>
  <p:slideViewPr>
    <p:cSldViewPr snapToGrid="0">
      <p:cViewPr varScale="1">
        <p:scale>
          <a:sx n="66" d="100"/>
          <a:sy n="66" d="100"/>
        </p:scale>
        <p:origin x="668" y="3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slide" Target="slides/slide14.xml"/><Relationship Id="rId26" Type="http://schemas.openxmlformats.org/officeDocument/2006/relationships/theme" Target="theme/theme1.xml"/><Relationship Id="rId3" Type="http://schemas.openxmlformats.org/officeDocument/2006/relationships/customXml" Target="../customXml/item3.xml"/><Relationship Id="rId21" Type="http://schemas.openxmlformats.org/officeDocument/2006/relationships/slide" Target="slides/slide17.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viewProps" Target="viewProps.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slide" Target="slides/slide16.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presProps" Target="presProps.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commentAuthors" Target="commentAuthors.xml"/><Relationship Id="rId10" Type="http://schemas.openxmlformats.org/officeDocument/2006/relationships/slide" Target="slides/slide6.xml"/><Relationship Id="rId19" Type="http://schemas.openxmlformats.org/officeDocument/2006/relationships/slide" Target="slides/slide15.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notesMaster" Target="notesMasters/notesMaster1.xml"/><Relationship Id="rId27"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7BA38705-3DB4-43D3-954C-FF18D96387A3}" type="datetimeFigureOut">
              <a:rPr lang="en-US" smtClean="0"/>
              <a:t>11/28/2025</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B44E70AF-355E-4C7C-9D29-F0C25D1BAC6E}" type="slidenum">
              <a:rPr lang="en-US" smtClean="0"/>
              <a:t>‹#›</a:t>
            </a:fld>
            <a:endParaRPr lang="en-US"/>
          </a:p>
        </p:txBody>
      </p:sp>
    </p:spTree>
    <p:extLst>
      <p:ext uri="{BB962C8B-B14F-4D97-AF65-F5344CB8AC3E}">
        <p14:creationId xmlns:p14="http://schemas.microsoft.com/office/powerpoint/2010/main" val="59542614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grpSp>
        <p:nvGrpSpPr>
          <p:cNvPr id="16" name="Group 15"/>
          <p:cNvGrpSpPr/>
          <p:nvPr/>
        </p:nvGrpSpPr>
        <p:grpSpPr>
          <a:xfrm>
            <a:off x="0" y="-8467"/>
            <a:ext cx="12192000" cy="6866467"/>
            <a:chOff x="0" y="-8467"/>
            <a:chExt cx="12192000" cy="6866467"/>
          </a:xfrm>
        </p:grpSpPr>
        <p:cxnSp>
          <p:nvCxnSpPr>
            <p:cNvPr id="19" name="Straight Connector 18"/>
            <p:cNvCxnSpPr/>
            <p:nvPr/>
          </p:nvCxnSpPr>
          <p:spPr>
            <a:xfrm>
              <a:off x="9371012" y="0"/>
              <a:ext cx="1219200" cy="6858000"/>
            </a:xfrm>
            <a:prstGeom prst="line">
              <a:avLst/>
            </a:prstGeom>
            <a:ln w="9525">
              <a:solidFill>
                <a:schemeClr val="accent1">
                  <a:alpha val="70000"/>
                </a:schemeClr>
              </a:solidFill>
            </a:ln>
          </p:spPr>
          <p:style>
            <a:lnRef idx="2">
              <a:schemeClr val="accent1"/>
            </a:lnRef>
            <a:fillRef idx="0">
              <a:schemeClr val="accent1"/>
            </a:fillRef>
            <a:effectRef idx="1">
              <a:schemeClr val="accent1"/>
            </a:effectRef>
            <a:fontRef idx="minor">
              <a:schemeClr val="tx1"/>
            </a:fontRef>
          </p:style>
        </p:cxnSp>
        <p:cxnSp>
          <p:nvCxnSpPr>
            <p:cNvPr id="20" name="Straight Connector 19"/>
            <p:cNvCxnSpPr/>
            <p:nvPr/>
          </p:nvCxnSpPr>
          <p:spPr>
            <a:xfrm flipH="1">
              <a:off x="7425267" y="3681413"/>
              <a:ext cx="4763558" cy="3176587"/>
            </a:xfrm>
            <a:prstGeom prst="line">
              <a:avLst/>
            </a:prstGeom>
            <a:ln w="9525">
              <a:solidFill>
                <a:schemeClr val="accent1">
                  <a:alpha val="70000"/>
                </a:schemeClr>
              </a:solidFill>
            </a:ln>
          </p:spPr>
          <p:style>
            <a:lnRef idx="2">
              <a:schemeClr val="accent1"/>
            </a:lnRef>
            <a:fillRef idx="0">
              <a:schemeClr val="accent1"/>
            </a:fillRef>
            <a:effectRef idx="1">
              <a:schemeClr val="accent1"/>
            </a:effectRef>
            <a:fontRef idx="minor">
              <a:schemeClr val="tx1"/>
            </a:fontRef>
          </p:style>
        </p:cxnSp>
        <p:sp>
          <p:nvSpPr>
            <p:cNvPr id="21" name="Rectangle 23"/>
            <p:cNvSpPr/>
            <p:nvPr/>
          </p:nvSpPr>
          <p:spPr>
            <a:xfrm>
              <a:off x="9181476" y="-8467"/>
              <a:ext cx="3007349"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6000"/>
              </a:schemeClr>
            </a:solidFill>
            <a:ln>
              <a:noFill/>
            </a:ln>
            <a:effectLst/>
          </p:spPr>
          <p:style>
            <a:lnRef idx="1">
              <a:schemeClr val="accent1"/>
            </a:lnRef>
            <a:fillRef idx="3">
              <a:schemeClr val="accent1"/>
            </a:fillRef>
            <a:effectRef idx="2">
              <a:schemeClr val="accent1"/>
            </a:effectRef>
            <a:fontRef idx="minor">
              <a:schemeClr val="lt1"/>
            </a:fontRef>
          </p:style>
        </p:sp>
        <p:sp>
          <p:nvSpPr>
            <p:cNvPr id="22" name="Rectangle 25"/>
            <p:cNvSpPr/>
            <p:nvPr/>
          </p:nvSpPr>
          <p:spPr>
            <a:xfrm>
              <a:off x="9603442" y="-8467"/>
              <a:ext cx="2588558"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3" name="Isosceles Triangle 22"/>
            <p:cNvSpPr/>
            <p:nvPr/>
          </p:nvSpPr>
          <p:spPr>
            <a:xfrm>
              <a:off x="8932333" y="3048000"/>
              <a:ext cx="3259667" cy="3810000"/>
            </a:xfrm>
            <a:prstGeom prst="triangle">
              <a:avLst>
                <a:gd name="adj" fmla="val 100000"/>
              </a:avLst>
            </a:prstGeom>
            <a:solidFill>
              <a:schemeClr val="accent1">
                <a:alpha val="72000"/>
              </a:schemeClr>
            </a:solidFill>
            <a:ln>
              <a:noFill/>
            </a:ln>
            <a:effectLst/>
          </p:spPr>
          <p:style>
            <a:lnRef idx="1">
              <a:schemeClr val="accent1"/>
            </a:lnRef>
            <a:fillRef idx="3">
              <a:schemeClr val="accent1"/>
            </a:fillRef>
            <a:effectRef idx="2">
              <a:schemeClr val="accent1"/>
            </a:effectRef>
            <a:fontRef idx="minor">
              <a:schemeClr val="lt1"/>
            </a:fontRef>
          </p:style>
        </p:sp>
        <p:sp>
          <p:nvSpPr>
            <p:cNvPr id="24" name="Rectangle 27"/>
            <p:cNvSpPr/>
            <p:nvPr/>
          </p:nvSpPr>
          <p:spPr>
            <a:xfrm>
              <a:off x="9334500" y="-8467"/>
              <a:ext cx="2854326"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1">
                <a:lumMod val="75000"/>
                <a:alpha val="5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5" name="Rectangle 28"/>
            <p:cNvSpPr/>
            <p:nvPr/>
          </p:nvSpPr>
          <p:spPr>
            <a:xfrm>
              <a:off x="10898730" y="-8467"/>
              <a:ext cx="1290094"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1">
                <a:lumMod val="75000"/>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6" name="Rectangle 29"/>
            <p:cNvSpPr/>
            <p:nvPr/>
          </p:nvSpPr>
          <p:spPr>
            <a:xfrm>
              <a:off x="10938999" y="-8467"/>
              <a:ext cx="1249825"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1">
                <a:lumMod val="50000"/>
                <a:alpha val="8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7" name="Isosceles Triangle 26"/>
            <p:cNvSpPr/>
            <p:nvPr/>
          </p:nvSpPr>
          <p:spPr>
            <a:xfrm>
              <a:off x="10371666" y="3589867"/>
              <a:ext cx="1817159" cy="3268133"/>
            </a:xfrm>
            <a:prstGeom prst="triangle">
              <a:avLst>
                <a:gd name="adj" fmla="val 100000"/>
              </a:avLst>
            </a:prstGeom>
            <a:solidFill>
              <a:schemeClr val="accent1">
                <a:lumMod val="50000"/>
                <a:alpha val="66000"/>
              </a:schemeClr>
            </a:solidFill>
            <a:ln>
              <a:noFill/>
            </a:ln>
            <a:effectLst/>
          </p:spPr>
          <p:style>
            <a:lnRef idx="1">
              <a:schemeClr val="accent1"/>
            </a:lnRef>
            <a:fillRef idx="3">
              <a:schemeClr val="accent1"/>
            </a:fillRef>
            <a:effectRef idx="2">
              <a:schemeClr val="accent1"/>
            </a:effectRef>
            <a:fontRef idx="minor">
              <a:schemeClr val="lt1"/>
            </a:fontRef>
          </p:style>
        </p:sp>
        <p:sp>
          <p:nvSpPr>
            <p:cNvPr id="29" name="Isosceles Triangle 28"/>
            <p:cNvSpPr/>
            <p:nvPr/>
          </p:nvSpPr>
          <p:spPr>
            <a:xfrm rot="10800000">
              <a:off x="0" y="0"/>
              <a:ext cx="842596" cy="5666154"/>
            </a:xfrm>
            <a:prstGeom prst="triangle">
              <a:avLst>
                <a:gd name="adj" fmla="val 100000"/>
              </a:avLst>
            </a:prstGeom>
            <a:solidFill>
              <a:schemeClr val="accent1">
                <a:lumMod val="75000"/>
                <a:alpha val="70000"/>
              </a:schemeClr>
            </a:solidFill>
            <a:ln>
              <a:noFill/>
            </a:ln>
            <a:effectLst/>
          </p:spPr>
          <p:style>
            <a:lnRef idx="1">
              <a:schemeClr val="accent1"/>
            </a:lnRef>
            <a:fillRef idx="3">
              <a:schemeClr val="accent1"/>
            </a:fillRef>
            <a:effectRef idx="2">
              <a:schemeClr val="accent1"/>
            </a:effectRef>
            <a:fontRef idx="minor">
              <a:schemeClr val="lt1"/>
            </a:fontRef>
          </p:style>
        </p:sp>
      </p:grpSp>
      <p:sp>
        <p:nvSpPr>
          <p:cNvPr id="2" name="Title 1"/>
          <p:cNvSpPr>
            <a:spLocks noGrp="1"/>
          </p:cNvSpPr>
          <p:nvPr>
            <p:ph type="ctrTitle"/>
          </p:nvPr>
        </p:nvSpPr>
        <p:spPr>
          <a:xfrm>
            <a:off x="1507067" y="2404534"/>
            <a:ext cx="7766936" cy="1646302"/>
          </a:xfrm>
        </p:spPr>
        <p:txBody>
          <a:bodyPr anchor="b">
            <a:noAutofit/>
          </a:bodyPr>
          <a:lstStyle>
            <a:lvl1pPr algn="r">
              <a:defRPr sz="5400">
                <a:solidFill>
                  <a:schemeClr val="accent1">
                    <a:lumMod val="75000"/>
                  </a:schemeClr>
                </a:solidFill>
              </a:defRPr>
            </a:lvl1pPr>
          </a:lstStyle>
          <a:p>
            <a:r>
              <a:rPr lang="en-US"/>
              <a:t>Click to edit Master title style</a:t>
            </a:r>
            <a:endParaRPr lang="en-US" dirty="0"/>
          </a:p>
        </p:txBody>
      </p:sp>
      <p:sp>
        <p:nvSpPr>
          <p:cNvPr id="3" name="Subtitle 2"/>
          <p:cNvSpPr>
            <a:spLocks noGrp="1"/>
          </p:cNvSpPr>
          <p:nvPr>
            <p:ph type="subTitle" idx="1"/>
          </p:nvPr>
        </p:nvSpPr>
        <p:spPr>
          <a:xfrm>
            <a:off x="1507067" y="4050833"/>
            <a:ext cx="7766936" cy="1096899"/>
          </a:xfrm>
        </p:spPr>
        <p:txBody>
          <a:bodyPr anchor="t"/>
          <a:lstStyle>
            <a:lvl1pPr marL="0" indent="0" algn="r">
              <a:buNone/>
              <a:defRPr>
                <a:solidFill>
                  <a:schemeClr val="tx1">
                    <a:lumMod val="50000"/>
                    <a:lumOff val="50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ED291B17-9318-49DB-B28B-6E5994AE9581}" type="datetime1">
              <a:rPr lang="en-US" smtClean="0"/>
              <a:t>11/28/2025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9710064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78DD82B9-B8EE-4375-B6FF-88FA6ABB15D9}" type="datetime1">
              <a:rPr lang="en-US" smtClean="0"/>
              <a:t>11/28/2025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13207771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677335" y="2700867"/>
            <a:ext cx="8596668" cy="1826581"/>
          </a:xfrm>
        </p:spPr>
        <p:txBody>
          <a:bodyPr anchor="b"/>
          <a:lstStyle>
            <a:lvl1pPr algn="l">
              <a:defRPr sz="4000" b="0" cap="none"/>
            </a:lvl1pPr>
          </a:lstStyle>
          <a:p>
            <a:r>
              <a:rPr lang="en-US"/>
              <a:t>Click to edit Master title style</a:t>
            </a:r>
            <a:endParaRPr lang="en-US" dirty="0"/>
          </a:p>
        </p:txBody>
      </p:sp>
      <p:sp>
        <p:nvSpPr>
          <p:cNvPr id="3" name="Text Placeholder 2"/>
          <p:cNvSpPr>
            <a:spLocks noGrp="1"/>
          </p:cNvSpPr>
          <p:nvPr>
            <p:ph type="body" idx="1"/>
          </p:nvPr>
        </p:nvSpPr>
        <p:spPr>
          <a:xfrm>
            <a:off x="677335" y="4527448"/>
            <a:ext cx="8596668" cy="860400"/>
          </a:xfrm>
        </p:spPr>
        <p:txBody>
          <a:bodyPr anchor="t"/>
          <a:lstStyle>
            <a:lvl1pPr marL="0" indent="0" algn="l">
              <a:buNone/>
              <a:defRPr sz="2000">
                <a:solidFill>
                  <a:schemeClr val="tx1">
                    <a:lumMod val="50000"/>
                    <a:lumOff val="5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2497495-0637-405E-AE64-5CC7506D51F5}" type="datetime1">
              <a:rPr lang="en-US" smtClean="0"/>
              <a:t>11/28/2025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385018885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677334" y="2160589"/>
            <a:ext cx="4184035" cy="388077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5089970" y="2160589"/>
            <a:ext cx="4184034" cy="388077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7BFFD690-9426-415D-8B65-26881E07B2D4}" type="datetime1">
              <a:rPr lang="en-US" smtClean="0"/>
              <a:t>11/28/2025</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292267213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endParaRPr lang="en-US" dirty="0"/>
          </a:p>
        </p:txBody>
      </p:sp>
      <p:sp>
        <p:nvSpPr>
          <p:cNvPr id="3" name="Text Placeholder 2"/>
          <p:cNvSpPr>
            <a:spLocks noGrp="1"/>
          </p:cNvSpPr>
          <p:nvPr>
            <p:ph type="body" idx="1"/>
          </p:nvPr>
        </p:nvSpPr>
        <p:spPr>
          <a:xfrm>
            <a:off x="675745" y="2160983"/>
            <a:ext cx="4185623" cy="576262"/>
          </a:xfrm>
        </p:spPr>
        <p:txBody>
          <a:bodyPr anchor="b">
            <a:noAutofit/>
          </a:bodyPr>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75745" y="2737245"/>
            <a:ext cx="4185623" cy="3304117"/>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5088383" y="2160983"/>
            <a:ext cx="4185618" cy="576262"/>
          </a:xfrm>
        </p:spPr>
        <p:txBody>
          <a:bodyPr anchor="b">
            <a:noAutofit/>
          </a:bodyPr>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5088384" y="2737245"/>
            <a:ext cx="4185617" cy="3304117"/>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04C4989A-474C-40DE-95B9-011C28B71673}" type="datetime1">
              <a:rPr lang="en-US" smtClean="0"/>
              <a:t>11/28/2025</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120755438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677334" y="609600"/>
            <a:ext cx="8596668" cy="1320800"/>
          </a:xfrm>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5DB4ED54-5B5E-4A04-93D3-5772E3CE3818}" type="datetime1">
              <a:rPr lang="en-US" smtClean="0"/>
              <a:t>11/28/2025</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426671136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4EDE50D6-574B-40AF-946F-D52A04ADE379}" type="datetime1">
              <a:rPr lang="en-US" smtClean="0"/>
              <a:t>11/28/2025</a:t>
            </a:fld>
            <a:endParaRPr lang="en-US" dirty="0"/>
          </a:p>
        </p:txBody>
      </p:sp>
      <p:sp>
        <p:nvSpPr>
          <p:cNvPr id="3" name="Footer Placeholder 2"/>
          <p:cNvSpPr>
            <a:spLocks noGrp="1"/>
          </p:cNvSpPr>
          <p:nvPr>
            <p:ph type="ftr" sz="quarter" idx="11"/>
          </p:nvPr>
        </p:nvSpPr>
        <p:spPr/>
        <p:txBody>
          <a:bodyPr/>
          <a:lstStyle/>
          <a:p>
            <a:endParaRPr lang="en-US" dirty="0"/>
          </a:p>
        </p:txBody>
      </p:sp>
      <p:sp>
        <p:nvSpPr>
          <p:cNvPr id="4" name="Slide Number Placeholder 3"/>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345947388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77334" y="1498604"/>
            <a:ext cx="3854528" cy="1278466"/>
          </a:xfrm>
        </p:spPr>
        <p:txBody>
          <a:bodyPr anchor="b">
            <a:normAutofit/>
          </a:bodyPr>
          <a:lstStyle>
            <a:lvl1pPr>
              <a:defRPr sz="2000"/>
            </a:lvl1pPr>
          </a:lstStyle>
          <a:p>
            <a:r>
              <a:rPr lang="en-US"/>
              <a:t>Click to edit Master title style</a:t>
            </a:r>
            <a:endParaRPr lang="en-US" dirty="0"/>
          </a:p>
        </p:txBody>
      </p:sp>
      <p:sp>
        <p:nvSpPr>
          <p:cNvPr id="3" name="Content Placeholder 2"/>
          <p:cNvSpPr>
            <a:spLocks noGrp="1"/>
          </p:cNvSpPr>
          <p:nvPr>
            <p:ph idx="1"/>
          </p:nvPr>
        </p:nvSpPr>
        <p:spPr>
          <a:xfrm>
            <a:off x="4760461" y="514924"/>
            <a:ext cx="4513541" cy="5526437"/>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677334" y="2777069"/>
            <a:ext cx="3854528" cy="2584449"/>
          </a:xfrm>
        </p:spPr>
        <p:txBody>
          <a:bodyPr>
            <a:normAutofit/>
          </a:bodyPr>
          <a:lstStyle>
            <a:lvl1pPr marL="0" indent="0">
              <a:buNone/>
              <a:defRPr sz="1400"/>
            </a:lvl1pPr>
            <a:lvl2pPr marL="457063" indent="0">
              <a:buNone/>
              <a:defRPr sz="1400"/>
            </a:lvl2pPr>
            <a:lvl3pPr marL="914126" indent="0">
              <a:buNone/>
              <a:defRPr sz="1200"/>
            </a:lvl3pPr>
            <a:lvl4pPr marL="1371189" indent="0">
              <a:buNone/>
              <a:defRPr sz="1000"/>
            </a:lvl4pPr>
            <a:lvl5pPr marL="1828251" indent="0">
              <a:buNone/>
              <a:defRPr sz="1000"/>
            </a:lvl5pPr>
            <a:lvl6pPr marL="2285314" indent="0">
              <a:buNone/>
              <a:defRPr sz="1000"/>
            </a:lvl6pPr>
            <a:lvl7pPr marL="2742377" indent="0">
              <a:buNone/>
              <a:defRPr sz="1000"/>
            </a:lvl7pPr>
            <a:lvl8pPr marL="3199440" indent="0">
              <a:buNone/>
              <a:defRPr sz="1000"/>
            </a:lvl8pPr>
            <a:lvl9pPr marL="3656503"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D82884F1-FFEA-405F-9602-3DCA865EDA4E}" type="datetime1">
              <a:rPr lang="en-US" smtClean="0"/>
              <a:t>11/28/2025</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3A98EE3D-8CD1-4C3F-BD1C-C98C9596463C}" type="slidenum">
              <a:rPr lang="en-US" smtClean="0"/>
              <a:pPr/>
              <a:t>‹#›</a:t>
            </a:fld>
            <a:endParaRPr lang="en-US" dirty="0"/>
          </a:p>
        </p:txBody>
      </p:sp>
    </p:spTree>
    <p:extLst>
      <p:ext uri="{BB962C8B-B14F-4D97-AF65-F5344CB8AC3E}">
        <p14:creationId xmlns:p14="http://schemas.microsoft.com/office/powerpoint/2010/main" val="259519978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77334" y="4800600"/>
            <a:ext cx="8596667" cy="566738"/>
          </a:xfrm>
        </p:spPr>
        <p:txBody>
          <a:bodyPr anchor="b">
            <a:normAutofit/>
          </a:bodyPr>
          <a:lstStyle>
            <a:lvl1pPr algn="l">
              <a:defRPr sz="2400" b="0"/>
            </a:lvl1pPr>
          </a:lstStyle>
          <a:p>
            <a:r>
              <a:rPr lang="en-US"/>
              <a:t>Click to edit Master title style</a:t>
            </a:r>
            <a:endParaRPr lang="en-US" dirty="0"/>
          </a:p>
        </p:txBody>
      </p:sp>
      <p:sp>
        <p:nvSpPr>
          <p:cNvPr id="3" name="Picture Placeholder 2"/>
          <p:cNvSpPr>
            <a:spLocks noGrp="1" noChangeAspect="1"/>
          </p:cNvSpPr>
          <p:nvPr>
            <p:ph type="pic" idx="1"/>
          </p:nvPr>
        </p:nvSpPr>
        <p:spPr>
          <a:xfrm>
            <a:off x="677334" y="609600"/>
            <a:ext cx="8596668" cy="3845718"/>
          </a:xfrm>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4" name="Text Placeholder 3"/>
          <p:cNvSpPr>
            <a:spLocks noGrp="1"/>
          </p:cNvSpPr>
          <p:nvPr>
            <p:ph type="body" sz="half" idx="2"/>
          </p:nvPr>
        </p:nvSpPr>
        <p:spPr>
          <a:xfrm>
            <a:off x="677334" y="5367338"/>
            <a:ext cx="8596667" cy="674024"/>
          </a:xfrm>
        </p:spPr>
        <p:txBody>
          <a:bodyPr>
            <a:normAutofit/>
          </a:bodyPr>
          <a:lstStyle>
            <a:lvl1pPr marL="0" indent="0">
              <a:buNone/>
              <a:defRPr sz="12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7E18DB4A-8810-4A10-AD5C-D5E2C667F5B3}" type="datetime1">
              <a:rPr lang="en-US" smtClean="0"/>
              <a:t>11/28/2025</a:t>
            </a:fld>
            <a:endParaRPr lang="en-US" dirty="0"/>
          </a:p>
        </p:txBody>
      </p:sp>
      <p:sp>
        <p:nvSpPr>
          <p:cNvPr id="6" name="Footer Placeholder 5"/>
          <p:cNvSpPr>
            <a:spLocks noGrp="1"/>
          </p:cNvSpPr>
          <p:nvPr>
            <p:ph type="ftr" sz="quarter" idx="11"/>
          </p:nvPr>
        </p:nvSpPr>
        <p:spPr/>
        <p:txBody>
          <a:bodyPr/>
          <a:lstStyle/>
          <a:p>
            <a:pPr algn="l"/>
            <a:endParaRPr lang="en-US" dirty="0"/>
          </a:p>
        </p:txBody>
      </p:sp>
      <p:sp>
        <p:nvSpPr>
          <p:cNvPr id="7" name="Slide Number Placeholder 6"/>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128837987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sp>
        <p:nvSpPr>
          <p:cNvPr id="2" name="Title 1"/>
          <p:cNvSpPr>
            <a:spLocks noGrp="1"/>
          </p:cNvSpPr>
          <p:nvPr>
            <p:ph type="title"/>
          </p:nvPr>
        </p:nvSpPr>
        <p:spPr>
          <a:xfrm>
            <a:off x="677335" y="609600"/>
            <a:ext cx="8596668" cy="3403600"/>
          </a:xfrm>
        </p:spPr>
        <p:txBody>
          <a:bodyPr anchor="ctr">
            <a:normAutofit/>
          </a:bodyPr>
          <a:lstStyle>
            <a:lvl1pPr algn="l">
              <a:defRPr sz="4400" b="0" cap="none"/>
            </a:lvl1pPr>
          </a:lstStyle>
          <a:p>
            <a:r>
              <a:rPr lang="en-US"/>
              <a:t>Click to edit Master title style</a:t>
            </a:r>
            <a:endParaRPr lang="en-US" dirty="0"/>
          </a:p>
        </p:txBody>
      </p:sp>
      <p:sp>
        <p:nvSpPr>
          <p:cNvPr id="3" name="Text Placeholder 2"/>
          <p:cNvSpPr>
            <a:spLocks noGrp="1"/>
          </p:cNvSpPr>
          <p:nvPr>
            <p:ph type="body" idx="1"/>
          </p:nvPr>
        </p:nvSpPr>
        <p:spPr>
          <a:xfrm>
            <a:off x="677335" y="4470400"/>
            <a:ext cx="8596668" cy="1570962"/>
          </a:xfrm>
        </p:spPr>
        <p:txBody>
          <a:bodyPr anchor="ctr">
            <a:normAutofit/>
          </a:bodyPr>
          <a:lstStyle>
            <a:lvl1pPr marL="0" indent="0" algn="l">
              <a:buNone/>
              <a:defRPr sz="1800">
                <a:solidFill>
                  <a:schemeClr val="tx1">
                    <a:lumMod val="75000"/>
                    <a:lumOff val="2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ED291B17-9318-49DB-B28B-6E5994AE9581}" type="datetime1">
              <a:rPr lang="en-US" smtClean="0"/>
              <a:t>11/28/2025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4006180178"/>
      </p:ext>
    </p:extLst>
  </p:cSld>
  <p:clrMapOvr>
    <a:masterClrMapping/>
  </p:clrMapOvr>
  <p:hf sldNum="0" hdr="0" ftr="0" dt="0"/>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931334" y="609600"/>
            <a:ext cx="8094134" cy="3022600"/>
          </a:xfrm>
        </p:spPr>
        <p:txBody>
          <a:bodyPr anchor="ctr">
            <a:normAutofit/>
          </a:bodyPr>
          <a:lstStyle>
            <a:lvl1pPr algn="l">
              <a:defRPr sz="4400" b="0" cap="none"/>
            </a:lvl1pPr>
          </a:lstStyle>
          <a:p>
            <a:r>
              <a:rPr lang="en-US"/>
              <a:t>Click to edit Master title style</a:t>
            </a:r>
            <a:endParaRPr lang="en-US" dirty="0"/>
          </a:p>
        </p:txBody>
      </p:sp>
      <p:sp>
        <p:nvSpPr>
          <p:cNvPr id="23" name="Text Placeholder 9"/>
          <p:cNvSpPr>
            <a:spLocks noGrp="1"/>
          </p:cNvSpPr>
          <p:nvPr>
            <p:ph type="body" sz="quarter" idx="13"/>
          </p:nvPr>
        </p:nvSpPr>
        <p:spPr>
          <a:xfrm>
            <a:off x="1366139" y="3632200"/>
            <a:ext cx="7224524" cy="381000"/>
          </a:xfrm>
        </p:spPr>
        <p:txBody>
          <a:bodyPr anchor="ctr">
            <a:noAutofit/>
          </a:bodyPr>
          <a:lstStyle>
            <a:lvl1pPr marL="0" indent="0">
              <a:buFontTx/>
              <a:buNone/>
              <a:defRPr sz="1600">
                <a:solidFill>
                  <a:schemeClr val="tx1">
                    <a:lumMod val="50000"/>
                    <a:lumOff val="50000"/>
                  </a:schemeClr>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Click to edit Master text styles</a:t>
            </a:r>
          </a:p>
        </p:txBody>
      </p:sp>
      <p:sp>
        <p:nvSpPr>
          <p:cNvPr id="3" name="Text Placeholder 2"/>
          <p:cNvSpPr>
            <a:spLocks noGrp="1"/>
          </p:cNvSpPr>
          <p:nvPr>
            <p:ph type="body" idx="1"/>
          </p:nvPr>
        </p:nvSpPr>
        <p:spPr>
          <a:xfrm>
            <a:off x="677335" y="4470400"/>
            <a:ext cx="8596668" cy="1570962"/>
          </a:xfrm>
        </p:spPr>
        <p:txBody>
          <a:bodyPr anchor="ctr">
            <a:normAutofit/>
          </a:bodyPr>
          <a:lstStyle>
            <a:lvl1pPr marL="0" indent="0" algn="l">
              <a:buNone/>
              <a:defRPr sz="1800">
                <a:solidFill>
                  <a:schemeClr val="tx1">
                    <a:lumMod val="75000"/>
                    <a:lumOff val="2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ED291B17-9318-49DB-B28B-6E5994AE9581}" type="datetime1">
              <a:rPr lang="en-US" smtClean="0"/>
              <a:t>11/28/2025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3A98EE3D-8CD1-4C3F-BD1C-C98C9596463C}" type="slidenum">
              <a:rPr lang="en-US" smtClean="0"/>
              <a:t>‹#›</a:t>
            </a:fld>
            <a:endParaRPr lang="en-US" dirty="0"/>
          </a:p>
        </p:txBody>
      </p:sp>
      <p:sp>
        <p:nvSpPr>
          <p:cNvPr id="24" name="TextBox 23"/>
          <p:cNvSpPr txBox="1"/>
          <p:nvPr/>
        </p:nvSpPr>
        <p:spPr>
          <a:xfrm>
            <a:off x="541870" y="790378"/>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solidFill>
                <a:effectLst/>
                <a:latin typeface="Arial"/>
              </a:rPr>
              <a:t>“</a:t>
            </a:r>
          </a:p>
        </p:txBody>
      </p:sp>
      <p:sp>
        <p:nvSpPr>
          <p:cNvPr id="25" name="TextBox 24"/>
          <p:cNvSpPr txBox="1"/>
          <p:nvPr/>
        </p:nvSpPr>
        <p:spPr>
          <a:xfrm>
            <a:off x="8893011" y="2886556"/>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solidFill>
                <a:effectLst/>
                <a:latin typeface="Arial"/>
              </a:rPr>
              <a:t>”</a:t>
            </a:r>
          </a:p>
        </p:txBody>
      </p:sp>
    </p:spTree>
    <p:extLst>
      <p:ext uri="{BB962C8B-B14F-4D97-AF65-F5344CB8AC3E}">
        <p14:creationId xmlns:p14="http://schemas.microsoft.com/office/powerpoint/2010/main" val="858049043"/>
      </p:ext>
    </p:extLst>
  </p:cSld>
  <p:clrMapOvr>
    <a:masterClrMapping/>
  </p:clrMapOvr>
  <p:hf sldNum="0" hdr="0" ftr="0" dt="0"/>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sp>
        <p:nvSpPr>
          <p:cNvPr id="2" name="Title 1"/>
          <p:cNvSpPr>
            <a:spLocks noGrp="1"/>
          </p:cNvSpPr>
          <p:nvPr>
            <p:ph type="title"/>
          </p:nvPr>
        </p:nvSpPr>
        <p:spPr>
          <a:xfrm>
            <a:off x="677335" y="1931988"/>
            <a:ext cx="8596668" cy="2595460"/>
          </a:xfrm>
        </p:spPr>
        <p:txBody>
          <a:bodyPr anchor="b">
            <a:normAutofit/>
          </a:bodyPr>
          <a:lstStyle>
            <a:lvl1pPr algn="l">
              <a:defRPr sz="4400" b="0" cap="none"/>
            </a:lvl1pPr>
          </a:lstStyle>
          <a:p>
            <a:r>
              <a:rPr lang="en-US"/>
              <a:t>Click to edit Master title style</a:t>
            </a:r>
            <a:endParaRPr lang="en-US" dirty="0"/>
          </a:p>
        </p:txBody>
      </p:sp>
      <p:sp>
        <p:nvSpPr>
          <p:cNvPr id="3" name="Text Placeholder 2"/>
          <p:cNvSpPr>
            <a:spLocks noGrp="1"/>
          </p:cNvSpPr>
          <p:nvPr>
            <p:ph type="body" idx="1"/>
          </p:nvPr>
        </p:nvSpPr>
        <p:spPr>
          <a:xfrm>
            <a:off x="677335" y="4527448"/>
            <a:ext cx="8596668" cy="1513914"/>
          </a:xfrm>
        </p:spPr>
        <p:txBody>
          <a:bodyPr anchor="t">
            <a:normAutofit/>
          </a:bodyPr>
          <a:lstStyle>
            <a:lvl1pPr marL="0" indent="0" algn="l">
              <a:buNone/>
              <a:defRPr sz="1800">
                <a:solidFill>
                  <a:schemeClr val="tx1">
                    <a:lumMod val="75000"/>
                    <a:lumOff val="2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ED291B17-9318-49DB-B28B-6E5994AE9581}" type="datetime1">
              <a:rPr lang="en-US" smtClean="0"/>
              <a:t>11/28/2025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1324023541"/>
      </p:ext>
    </p:extLst>
  </p:cSld>
  <p:clrMapOvr>
    <a:masterClrMapping/>
  </p:clrMapOvr>
  <p:hf sldNum="0" hdr="0" ftr="0" dt="0"/>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Quote Name Card">
    <p:spTree>
      <p:nvGrpSpPr>
        <p:cNvPr id="1" name=""/>
        <p:cNvGrpSpPr/>
        <p:nvPr/>
      </p:nvGrpSpPr>
      <p:grpSpPr>
        <a:xfrm>
          <a:off x="0" y="0"/>
          <a:ext cx="0" cy="0"/>
          <a:chOff x="0" y="0"/>
          <a:chExt cx="0" cy="0"/>
        </a:xfrm>
      </p:grpSpPr>
      <p:sp>
        <p:nvSpPr>
          <p:cNvPr id="2" name="Title 1"/>
          <p:cNvSpPr>
            <a:spLocks noGrp="1"/>
          </p:cNvSpPr>
          <p:nvPr>
            <p:ph type="title"/>
          </p:nvPr>
        </p:nvSpPr>
        <p:spPr>
          <a:xfrm>
            <a:off x="931334" y="609600"/>
            <a:ext cx="8094134" cy="3022600"/>
          </a:xfrm>
        </p:spPr>
        <p:txBody>
          <a:bodyPr anchor="ctr">
            <a:normAutofit/>
          </a:bodyPr>
          <a:lstStyle>
            <a:lvl1pPr algn="l">
              <a:defRPr sz="4400" b="0" cap="none"/>
            </a:lvl1pPr>
          </a:lstStyle>
          <a:p>
            <a:r>
              <a:rPr lang="en-US"/>
              <a:t>Click to edit Master title style</a:t>
            </a:r>
            <a:endParaRPr lang="en-US" dirty="0"/>
          </a:p>
        </p:txBody>
      </p:sp>
      <p:sp>
        <p:nvSpPr>
          <p:cNvPr id="23" name="Text Placeholder 9"/>
          <p:cNvSpPr>
            <a:spLocks noGrp="1"/>
          </p:cNvSpPr>
          <p:nvPr>
            <p:ph type="body" sz="quarter" idx="13"/>
          </p:nvPr>
        </p:nvSpPr>
        <p:spPr>
          <a:xfrm>
            <a:off x="677332" y="4013200"/>
            <a:ext cx="8596669" cy="514248"/>
          </a:xfrm>
        </p:spPr>
        <p:txBody>
          <a:bodyPr anchor="b">
            <a:noAutofit/>
          </a:bodyPr>
          <a:lstStyle>
            <a:lvl1pPr marL="0" indent="0">
              <a:buFontTx/>
              <a:buNone/>
              <a:defRPr sz="2400">
                <a:solidFill>
                  <a:schemeClr val="tx1">
                    <a:lumMod val="75000"/>
                    <a:lumOff val="25000"/>
                  </a:schemeClr>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Click to edit Master text styles</a:t>
            </a:r>
          </a:p>
        </p:txBody>
      </p:sp>
      <p:sp>
        <p:nvSpPr>
          <p:cNvPr id="3" name="Text Placeholder 2"/>
          <p:cNvSpPr>
            <a:spLocks noGrp="1"/>
          </p:cNvSpPr>
          <p:nvPr>
            <p:ph type="body" idx="1"/>
          </p:nvPr>
        </p:nvSpPr>
        <p:spPr>
          <a:xfrm>
            <a:off x="677335" y="4527448"/>
            <a:ext cx="8596668" cy="1513914"/>
          </a:xfrm>
        </p:spPr>
        <p:txBody>
          <a:bodyPr anchor="t">
            <a:normAutofit/>
          </a:bodyPr>
          <a:lstStyle>
            <a:lvl1pPr marL="0" indent="0" algn="l">
              <a:buNone/>
              <a:defRPr sz="1800">
                <a:solidFill>
                  <a:schemeClr val="tx1">
                    <a:lumMod val="50000"/>
                    <a:lumOff val="5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ED291B17-9318-49DB-B28B-6E5994AE9581}" type="datetime1">
              <a:rPr lang="en-US" smtClean="0"/>
              <a:t>11/28/2025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3A98EE3D-8CD1-4C3F-BD1C-C98C9596463C}" type="slidenum">
              <a:rPr lang="en-US" smtClean="0"/>
              <a:t>‹#›</a:t>
            </a:fld>
            <a:endParaRPr lang="en-US" dirty="0"/>
          </a:p>
        </p:txBody>
      </p:sp>
      <p:sp>
        <p:nvSpPr>
          <p:cNvPr id="24" name="TextBox 23"/>
          <p:cNvSpPr txBox="1"/>
          <p:nvPr/>
        </p:nvSpPr>
        <p:spPr>
          <a:xfrm>
            <a:off x="541870" y="790378"/>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solidFill>
                <a:effectLst/>
                <a:latin typeface="Arial"/>
              </a:rPr>
              <a:t>“</a:t>
            </a:r>
          </a:p>
        </p:txBody>
      </p:sp>
      <p:sp>
        <p:nvSpPr>
          <p:cNvPr id="25" name="TextBox 24"/>
          <p:cNvSpPr txBox="1"/>
          <p:nvPr/>
        </p:nvSpPr>
        <p:spPr>
          <a:xfrm>
            <a:off x="8893011" y="2886556"/>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solidFill>
                <a:effectLst/>
                <a:latin typeface="Arial"/>
              </a:rPr>
              <a:t>”</a:t>
            </a:r>
          </a:p>
        </p:txBody>
      </p:sp>
    </p:spTree>
    <p:extLst>
      <p:ext uri="{BB962C8B-B14F-4D97-AF65-F5344CB8AC3E}">
        <p14:creationId xmlns:p14="http://schemas.microsoft.com/office/powerpoint/2010/main" val="2565843880"/>
      </p:ext>
    </p:extLst>
  </p:cSld>
  <p:clrMapOvr>
    <a:masterClrMapping/>
  </p:clrMapOvr>
  <p:hf sldNum="0" hdr="0" ftr="0" dt="0"/>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True or False">
    <p:spTree>
      <p:nvGrpSpPr>
        <p:cNvPr id="1" name=""/>
        <p:cNvGrpSpPr/>
        <p:nvPr/>
      </p:nvGrpSpPr>
      <p:grpSpPr>
        <a:xfrm>
          <a:off x="0" y="0"/>
          <a:ext cx="0" cy="0"/>
          <a:chOff x="0" y="0"/>
          <a:chExt cx="0" cy="0"/>
        </a:xfrm>
      </p:grpSpPr>
      <p:sp>
        <p:nvSpPr>
          <p:cNvPr id="2" name="Title 1"/>
          <p:cNvSpPr>
            <a:spLocks noGrp="1"/>
          </p:cNvSpPr>
          <p:nvPr>
            <p:ph type="title"/>
          </p:nvPr>
        </p:nvSpPr>
        <p:spPr>
          <a:xfrm>
            <a:off x="685799" y="609600"/>
            <a:ext cx="8588203" cy="3022600"/>
          </a:xfrm>
        </p:spPr>
        <p:txBody>
          <a:bodyPr anchor="ctr">
            <a:normAutofit/>
          </a:bodyPr>
          <a:lstStyle>
            <a:lvl1pPr algn="l">
              <a:defRPr sz="4400" b="0" cap="none"/>
            </a:lvl1pPr>
          </a:lstStyle>
          <a:p>
            <a:r>
              <a:rPr lang="en-US"/>
              <a:t>Click to edit Master title style</a:t>
            </a:r>
            <a:endParaRPr lang="en-US" dirty="0"/>
          </a:p>
        </p:txBody>
      </p:sp>
      <p:sp>
        <p:nvSpPr>
          <p:cNvPr id="23" name="Text Placeholder 9"/>
          <p:cNvSpPr>
            <a:spLocks noGrp="1"/>
          </p:cNvSpPr>
          <p:nvPr>
            <p:ph type="body" sz="quarter" idx="13"/>
          </p:nvPr>
        </p:nvSpPr>
        <p:spPr>
          <a:xfrm>
            <a:off x="677332" y="4013200"/>
            <a:ext cx="8596669" cy="514248"/>
          </a:xfrm>
        </p:spPr>
        <p:txBody>
          <a:bodyPr anchor="b">
            <a:noAutofit/>
          </a:bodyPr>
          <a:lstStyle>
            <a:lvl1pPr marL="0" indent="0">
              <a:buFontTx/>
              <a:buNone/>
              <a:defRPr sz="2400">
                <a:solidFill>
                  <a:schemeClr val="accent1"/>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Click to edit Master text styles</a:t>
            </a:r>
          </a:p>
        </p:txBody>
      </p:sp>
      <p:sp>
        <p:nvSpPr>
          <p:cNvPr id="3" name="Text Placeholder 2"/>
          <p:cNvSpPr>
            <a:spLocks noGrp="1"/>
          </p:cNvSpPr>
          <p:nvPr>
            <p:ph type="body" idx="1"/>
          </p:nvPr>
        </p:nvSpPr>
        <p:spPr>
          <a:xfrm>
            <a:off x="677335" y="4527448"/>
            <a:ext cx="8596668" cy="1513914"/>
          </a:xfrm>
        </p:spPr>
        <p:txBody>
          <a:bodyPr anchor="t">
            <a:normAutofit/>
          </a:bodyPr>
          <a:lstStyle>
            <a:lvl1pPr marL="0" indent="0" algn="l">
              <a:buNone/>
              <a:defRPr sz="1800">
                <a:solidFill>
                  <a:schemeClr val="tx1">
                    <a:lumMod val="50000"/>
                    <a:lumOff val="5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ED291B17-9318-49DB-B28B-6E5994AE9581}" type="datetime1">
              <a:rPr lang="en-US" smtClean="0"/>
              <a:t>11/28/2025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3241598047"/>
      </p:ext>
    </p:extLst>
  </p:cSld>
  <p:clrMapOvr>
    <a:masterClrMapping/>
  </p:clrMapOvr>
  <p:hf sldNum="0" hdr="0" ftr="0" dt="0"/>
</p:sldLayout>
</file>

<file path=ppt/slideLayouts/slideLayout15.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2CED4963-E985-44C4-B8C4-FDD613B7C2F8}" type="datetime1">
              <a:rPr lang="en-US" smtClean="0"/>
              <a:t>11/28/2025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3492989956"/>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7967673" y="609599"/>
            <a:ext cx="1304743" cy="5251451"/>
          </a:xfrm>
        </p:spPr>
        <p:txBody>
          <a:bodyPr vert="eaVert" anchor="ctr"/>
          <a:lstStyle/>
          <a:p>
            <a:r>
              <a:rPr lang="en-US"/>
              <a:t>Click to edit Master title style</a:t>
            </a:r>
            <a:endParaRPr lang="en-US" dirty="0"/>
          </a:p>
        </p:txBody>
      </p:sp>
      <p:sp>
        <p:nvSpPr>
          <p:cNvPr id="3" name="Vertical Text Placeholder 2"/>
          <p:cNvSpPr>
            <a:spLocks noGrp="1"/>
          </p:cNvSpPr>
          <p:nvPr>
            <p:ph type="body" orient="vert" idx="1"/>
          </p:nvPr>
        </p:nvSpPr>
        <p:spPr>
          <a:xfrm>
            <a:off x="677335" y="609600"/>
            <a:ext cx="7060150" cy="5251450"/>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ED291B17-9318-49DB-B28B-6E5994AE9581}" type="datetime1">
              <a:rPr lang="en-US" smtClean="0"/>
              <a:t>11/28/2025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265720023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theme" Target="../theme/theme1.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grpSp>
        <p:nvGrpSpPr>
          <p:cNvPr id="29" name="Group 28"/>
          <p:cNvGrpSpPr/>
          <p:nvPr/>
        </p:nvGrpSpPr>
        <p:grpSpPr>
          <a:xfrm>
            <a:off x="0" y="-8467"/>
            <a:ext cx="12192000" cy="6866467"/>
            <a:chOff x="0" y="-8467"/>
            <a:chExt cx="12192000" cy="6866467"/>
          </a:xfrm>
        </p:grpSpPr>
        <p:cxnSp>
          <p:nvCxnSpPr>
            <p:cNvPr id="19" name="Straight Connector 18"/>
            <p:cNvCxnSpPr/>
            <p:nvPr/>
          </p:nvCxnSpPr>
          <p:spPr>
            <a:xfrm>
              <a:off x="9371012" y="0"/>
              <a:ext cx="1219200" cy="6858000"/>
            </a:xfrm>
            <a:prstGeom prst="line">
              <a:avLst/>
            </a:prstGeom>
            <a:ln w="9525">
              <a:solidFill>
                <a:schemeClr val="accent1">
                  <a:alpha val="70000"/>
                </a:schemeClr>
              </a:solidFill>
            </a:ln>
          </p:spPr>
          <p:style>
            <a:lnRef idx="2">
              <a:schemeClr val="accent1"/>
            </a:lnRef>
            <a:fillRef idx="0">
              <a:schemeClr val="accent1"/>
            </a:fillRef>
            <a:effectRef idx="1">
              <a:schemeClr val="accent1"/>
            </a:effectRef>
            <a:fontRef idx="minor">
              <a:schemeClr val="tx1"/>
            </a:fontRef>
          </p:style>
        </p:cxnSp>
        <p:cxnSp>
          <p:nvCxnSpPr>
            <p:cNvPr id="20" name="Straight Connector 19"/>
            <p:cNvCxnSpPr/>
            <p:nvPr/>
          </p:nvCxnSpPr>
          <p:spPr>
            <a:xfrm flipH="1">
              <a:off x="7425267" y="3681413"/>
              <a:ext cx="4763558" cy="3176587"/>
            </a:xfrm>
            <a:prstGeom prst="line">
              <a:avLst/>
            </a:prstGeom>
            <a:ln w="9525">
              <a:solidFill>
                <a:schemeClr val="accent1">
                  <a:alpha val="70000"/>
                </a:schemeClr>
              </a:solidFill>
            </a:ln>
          </p:spPr>
          <p:style>
            <a:lnRef idx="2">
              <a:schemeClr val="accent1"/>
            </a:lnRef>
            <a:fillRef idx="0">
              <a:schemeClr val="accent1"/>
            </a:fillRef>
            <a:effectRef idx="1">
              <a:schemeClr val="accent1"/>
            </a:effectRef>
            <a:fontRef idx="minor">
              <a:schemeClr val="tx1"/>
            </a:fontRef>
          </p:style>
        </p:cxnSp>
        <p:sp>
          <p:nvSpPr>
            <p:cNvPr id="21" name="Rectangle 23"/>
            <p:cNvSpPr/>
            <p:nvPr/>
          </p:nvSpPr>
          <p:spPr>
            <a:xfrm>
              <a:off x="9181476" y="-8467"/>
              <a:ext cx="3007349"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6000"/>
              </a:schemeClr>
            </a:solidFill>
            <a:ln>
              <a:noFill/>
            </a:ln>
            <a:effectLst/>
          </p:spPr>
          <p:style>
            <a:lnRef idx="1">
              <a:schemeClr val="accent1"/>
            </a:lnRef>
            <a:fillRef idx="3">
              <a:schemeClr val="accent1"/>
            </a:fillRef>
            <a:effectRef idx="2">
              <a:schemeClr val="accent1"/>
            </a:effectRef>
            <a:fontRef idx="minor">
              <a:schemeClr val="lt1"/>
            </a:fontRef>
          </p:style>
        </p:sp>
        <p:sp>
          <p:nvSpPr>
            <p:cNvPr id="22" name="Rectangle 25"/>
            <p:cNvSpPr/>
            <p:nvPr/>
          </p:nvSpPr>
          <p:spPr>
            <a:xfrm>
              <a:off x="9603442" y="-8467"/>
              <a:ext cx="2588558"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3" name="Isosceles Triangle 22"/>
            <p:cNvSpPr/>
            <p:nvPr/>
          </p:nvSpPr>
          <p:spPr>
            <a:xfrm>
              <a:off x="8932333" y="3048000"/>
              <a:ext cx="3259667" cy="3810000"/>
            </a:xfrm>
            <a:prstGeom prst="triangle">
              <a:avLst>
                <a:gd name="adj" fmla="val 100000"/>
              </a:avLst>
            </a:prstGeom>
            <a:solidFill>
              <a:schemeClr val="accent1">
                <a:alpha val="72000"/>
              </a:schemeClr>
            </a:solidFill>
            <a:ln>
              <a:noFill/>
            </a:ln>
            <a:effectLst/>
          </p:spPr>
          <p:style>
            <a:lnRef idx="1">
              <a:schemeClr val="accent1"/>
            </a:lnRef>
            <a:fillRef idx="3">
              <a:schemeClr val="accent1"/>
            </a:fillRef>
            <a:effectRef idx="2">
              <a:schemeClr val="accent1"/>
            </a:effectRef>
            <a:fontRef idx="minor">
              <a:schemeClr val="lt1"/>
            </a:fontRef>
          </p:style>
        </p:sp>
        <p:sp>
          <p:nvSpPr>
            <p:cNvPr id="24" name="Rectangle 27"/>
            <p:cNvSpPr/>
            <p:nvPr/>
          </p:nvSpPr>
          <p:spPr>
            <a:xfrm>
              <a:off x="9334500" y="-8467"/>
              <a:ext cx="2854326"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1">
                <a:lumMod val="75000"/>
                <a:alpha val="5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5" name="Rectangle 28"/>
            <p:cNvSpPr/>
            <p:nvPr/>
          </p:nvSpPr>
          <p:spPr>
            <a:xfrm>
              <a:off x="10898730" y="-8467"/>
              <a:ext cx="1290094"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1">
                <a:lumMod val="75000"/>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6" name="Rectangle 29"/>
            <p:cNvSpPr/>
            <p:nvPr/>
          </p:nvSpPr>
          <p:spPr>
            <a:xfrm>
              <a:off x="10938999" y="-8467"/>
              <a:ext cx="1249825"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1">
                <a:lumMod val="50000"/>
                <a:alpha val="8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7" name="Isosceles Triangle 26"/>
            <p:cNvSpPr/>
            <p:nvPr/>
          </p:nvSpPr>
          <p:spPr>
            <a:xfrm>
              <a:off x="10371666" y="3589867"/>
              <a:ext cx="1817159" cy="3268133"/>
            </a:xfrm>
            <a:prstGeom prst="triangle">
              <a:avLst>
                <a:gd name="adj" fmla="val 100000"/>
              </a:avLst>
            </a:prstGeom>
            <a:solidFill>
              <a:schemeClr val="accent1">
                <a:lumMod val="50000"/>
                <a:alpha val="66000"/>
              </a:schemeClr>
            </a:solidFill>
            <a:ln>
              <a:noFill/>
            </a:ln>
            <a:effectLst/>
          </p:spPr>
          <p:style>
            <a:lnRef idx="1">
              <a:schemeClr val="accent1"/>
            </a:lnRef>
            <a:fillRef idx="3">
              <a:schemeClr val="accent1"/>
            </a:fillRef>
            <a:effectRef idx="2">
              <a:schemeClr val="accent1"/>
            </a:effectRef>
            <a:fontRef idx="minor">
              <a:schemeClr val="lt1"/>
            </a:fontRef>
          </p:style>
        </p:sp>
        <p:sp>
          <p:nvSpPr>
            <p:cNvPr id="28" name="Isosceles Triangle 27"/>
            <p:cNvSpPr/>
            <p:nvPr/>
          </p:nvSpPr>
          <p:spPr>
            <a:xfrm>
              <a:off x="0" y="4013200"/>
              <a:ext cx="448733" cy="2844800"/>
            </a:xfrm>
            <a:prstGeom prst="triangle">
              <a:avLst>
                <a:gd name="adj" fmla="val 0"/>
              </a:avLst>
            </a:prstGeom>
            <a:solidFill>
              <a:schemeClr val="accent1">
                <a:lumMod val="75000"/>
                <a:alpha val="70000"/>
              </a:schemeClr>
            </a:solidFill>
            <a:ln>
              <a:noFill/>
            </a:ln>
            <a:effectLst/>
          </p:spPr>
          <p:style>
            <a:lnRef idx="1">
              <a:schemeClr val="accent1"/>
            </a:lnRef>
            <a:fillRef idx="3">
              <a:schemeClr val="accent1"/>
            </a:fillRef>
            <a:effectRef idx="2">
              <a:schemeClr val="accent1"/>
            </a:effectRef>
            <a:fontRef idx="minor">
              <a:schemeClr val="lt1"/>
            </a:fontRef>
          </p:style>
        </p:sp>
      </p:grpSp>
      <p:sp>
        <p:nvSpPr>
          <p:cNvPr id="2" name="Title Placeholder 1"/>
          <p:cNvSpPr>
            <a:spLocks noGrp="1"/>
          </p:cNvSpPr>
          <p:nvPr>
            <p:ph type="title"/>
          </p:nvPr>
        </p:nvSpPr>
        <p:spPr>
          <a:xfrm>
            <a:off x="677334" y="609600"/>
            <a:ext cx="8596668" cy="1320800"/>
          </a:xfrm>
          <a:prstGeom prst="rect">
            <a:avLst/>
          </a:prstGeom>
        </p:spPr>
        <p:txBody>
          <a:bodyPr vert="horz" lIns="91440" tIns="45720" rIns="91440" bIns="45720" rtlCol="0" anchor="t">
            <a:normAutofit/>
          </a:bodyPr>
          <a:lstStyle/>
          <a:p>
            <a:r>
              <a:rPr lang="en-US"/>
              <a:t>Click to edit Master title style</a:t>
            </a:r>
            <a:endParaRPr lang="en-US" dirty="0"/>
          </a:p>
        </p:txBody>
      </p:sp>
      <p:sp>
        <p:nvSpPr>
          <p:cNvPr id="3" name="Text Placeholder 2"/>
          <p:cNvSpPr>
            <a:spLocks noGrp="1"/>
          </p:cNvSpPr>
          <p:nvPr>
            <p:ph type="body" idx="1"/>
          </p:nvPr>
        </p:nvSpPr>
        <p:spPr>
          <a:xfrm>
            <a:off x="677334" y="2160589"/>
            <a:ext cx="8596668" cy="388077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7205133" y="6041362"/>
            <a:ext cx="911939" cy="365125"/>
          </a:xfrm>
          <a:prstGeom prst="rect">
            <a:avLst/>
          </a:prstGeom>
        </p:spPr>
        <p:txBody>
          <a:bodyPr vert="horz" lIns="91440" tIns="45720" rIns="91440" bIns="45720" rtlCol="0" anchor="ctr"/>
          <a:lstStyle>
            <a:lvl1pPr algn="r">
              <a:defRPr sz="900">
                <a:solidFill>
                  <a:schemeClr val="tx1">
                    <a:tint val="75000"/>
                  </a:schemeClr>
                </a:solidFill>
              </a:defRPr>
            </a:lvl1pPr>
          </a:lstStyle>
          <a:p>
            <a:fld id="{ED291B17-9318-49DB-B28B-6E5994AE9581}" type="datetime1">
              <a:rPr lang="en-US" smtClean="0"/>
              <a:t>11/28/2025</a:t>
            </a:fld>
            <a:endParaRPr lang="en-US" dirty="0"/>
          </a:p>
        </p:txBody>
      </p:sp>
      <p:sp>
        <p:nvSpPr>
          <p:cNvPr id="5" name="Footer Placeholder 4"/>
          <p:cNvSpPr>
            <a:spLocks noGrp="1"/>
          </p:cNvSpPr>
          <p:nvPr>
            <p:ph type="ftr" sz="quarter" idx="3"/>
          </p:nvPr>
        </p:nvSpPr>
        <p:spPr>
          <a:xfrm>
            <a:off x="677334" y="6041362"/>
            <a:ext cx="6297612" cy="365125"/>
          </a:xfrm>
          <a:prstGeom prst="rect">
            <a:avLst/>
          </a:prstGeom>
        </p:spPr>
        <p:txBody>
          <a:bodyPr vert="horz" lIns="91440" tIns="45720" rIns="91440" bIns="45720" rtlCol="0" anchor="ctr"/>
          <a:lstStyle>
            <a:lvl1pPr algn="l">
              <a:defRPr sz="900">
                <a:solidFill>
                  <a:schemeClr val="tx1">
                    <a:tint val="75000"/>
                  </a:schemeClr>
                </a:solidFill>
              </a:defRPr>
            </a:lvl1pPr>
          </a:lstStyle>
          <a:p>
            <a:endParaRPr lang="en-US" dirty="0"/>
          </a:p>
        </p:txBody>
      </p:sp>
      <p:sp>
        <p:nvSpPr>
          <p:cNvPr id="6" name="Slide Number Placeholder 5"/>
          <p:cNvSpPr>
            <a:spLocks noGrp="1"/>
          </p:cNvSpPr>
          <p:nvPr>
            <p:ph type="sldNum" sz="quarter" idx="4"/>
          </p:nvPr>
        </p:nvSpPr>
        <p:spPr>
          <a:xfrm>
            <a:off x="8590663" y="6041362"/>
            <a:ext cx="683339" cy="365125"/>
          </a:xfrm>
          <a:prstGeom prst="rect">
            <a:avLst/>
          </a:prstGeom>
        </p:spPr>
        <p:txBody>
          <a:bodyPr vert="horz" lIns="91440" tIns="45720" rIns="91440" bIns="45720" rtlCol="0" anchor="ctr"/>
          <a:lstStyle>
            <a:lvl1pPr algn="r">
              <a:defRPr sz="900">
                <a:solidFill>
                  <a:schemeClr val="accent1">
                    <a:lumMod val="75000"/>
                  </a:schemeClr>
                </a:solidFill>
              </a:defRPr>
            </a:lvl1pPr>
          </a:lstStyle>
          <a:p>
            <a:fld id="{3A98EE3D-8CD1-4C3F-BD1C-C98C9596463C}" type="slidenum">
              <a:rPr lang="en-US" smtClean="0"/>
              <a:t>‹#›</a:t>
            </a:fld>
            <a:endParaRPr lang="en-US" dirty="0"/>
          </a:p>
        </p:txBody>
      </p:sp>
    </p:spTree>
    <p:extLst>
      <p:ext uri="{BB962C8B-B14F-4D97-AF65-F5344CB8AC3E}">
        <p14:creationId xmlns:p14="http://schemas.microsoft.com/office/powerpoint/2010/main" val="385566065"/>
      </p:ext>
    </p:extLst>
  </p:cSld>
  <p:clrMap bg1="lt1" tx1="dk1" bg2="lt2" tx2="dk2" accent1="accent1" accent2="accent2" accent3="accent3" accent4="accent4" accent5="accent5" accent6="accent6" hlink="hlink" folHlink="folHlink"/>
  <p:sldLayoutIdLst>
    <p:sldLayoutId id="2147483798" r:id="rId1"/>
    <p:sldLayoutId id="2147483799" r:id="rId2"/>
    <p:sldLayoutId id="2147483800" r:id="rId3"/>
    <p:sldLayoutId id="2147483801" r:id="rId4"/>
    <p:sldLayoutId id="2147483802" r:id="rId5"/>
    <p:sldLayoutId id="2147483803" r:id="rId6"/>
    <p:sldLayoutId id="2147483804" r:id="rId7"/>
    <p:sldLayoutId id="2147483805" r:id="rId8"/>
    <p:sldLayoutId id="2147483806" r:id="rId9"/>
    <p:sldLayoutId id="2147483807" r:id="rId10"/>
    <p:sldLayoutId id="2147483808" r:id="rId11"/>
    <p:sldLayoutId id="2147483809" r:id="rId12"/>
    <p:sldLayoutId id="2147483810" r:id="rId13"/>
    <p:sldLayoutId id="2147483811" r:id="rId14"/>
    <p:sldLayoutId id="2147483812" r:id="rId15"/>
    <p:sldLayoutId id="2147483813" r:id="rId16"/>
  </p:sldLayoutIdLst>
  <p:hf sldNum="0" hdr="0" ftr="0" dt="0"/>
  <p:txStyles>
    <p:titleStyle>
      <a:lvl1pPr algn="l" defTabSz="457200" rtl="0" eaLnBrk="1" latinLnBrk="0" hangingPunct="1">
        <a:spcBef>
          <a:spcPct val="0"/>
        </a:spcBef>
        <a:buNone/>
        <a:defRPr sz="3600" kern="1200">
          <a:solidFill>
            <a:schemeClr val="accent1">
              <a:lumMod val="75000"/>
            </a:schemeClr>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342900" indent="-342900" algn="l" defTabSz="457200" rtl="0" eaLnBrk="1" latinLnBrk="0" hangingPunct="1">
        <a:spcBef>
          <a:spcPts val="1000"/>
        </a:spcBef>
        <a:spcAft>
          <a:spcPts val="0"/>
        </a:spcAft>
        <a:buClr>
          <a:schemeClr val="accent1">
            <a:lumMod val="75000"/>
          </a:schemeClr>
        </a:buClr>
        <a:buSzPct val="80000"/>
        <a:buFont typeface="Wingdings 3" charset="2"/>
        <a:buChar char=""/>
        <a:defRPr sz="1800" kern="1200">
          <a:solidFill>
            <a:schemeClr val="tx1">
              <a:lumMod val="75000"/>
              <a:lumOff val="25000"/>
            </a:schemeClr>
          </a:solidFill>
          <a:latin typeface="+mn-lt"/>
          <a:ea typeface="+mn-ea"/>
          <a:cs typeface="+mn-cs"/>
        </a:defRPr>
      </a:lvl1pPr>
      <a:lvl2pPr marL="742950" indent="-285750" algn="l" defTabSz="457200" rtl="0" eaLnBrk="1" latinLnBrk="0" hangingPunct="1">
        <a:spcBef>
          <a:spcPts val="1000"/>
        </a:spcBef>
        <a:spcAft>
          <a:spcPts val="0"/>
        </a:spcAft>
        <a:buClr>
          <a:schemeClr val="accent1">
            <a:lumMod val="75000"/>
          </a:schemeClr>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lumMod val="75000"/>
          </a:schemeClr>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lumMod val="75000"/>
          </a:schemeClr>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lumMod val="75000"/>
          </a:schemeClr>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lumMod val="75000"/>
          </a:schemeClr>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lumMod val="75000"/>
          </a:schemeClr>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lumMod val="75000"/>
          </a:schemeClr>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lumMod val="75000"/>
          </a:schemeClr>
        </a:buClr>
        <a:buSzPct val="80000"/>
        <a:buFont typeface="Wingdings 3" charset="2"/>
        <a:buChar char=""/>
        <a:defRPr sz="1200" kern="1200">
          <a:solidFill>
            <a:schemeClr val="tx1">
              <a:lumMod val="75000"/>
              <a:lumOff val="25000"/>
            </a:schemeClr>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2.xml"/><Relationship Id="rId5" Type="http://schemas.openxmlformats.org/officeDocument/2006/relationships/image" Target="../media/image4.png"/><Relationship Id="rId4" Type="http://schemas.openxmlformats.org/officeDocument/2006/relationships/image" Target="../media/image1.jpg"/></Relationships>
</file>

<file path=ppt/slides/_rels/slide10.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Layout" Target="../slideLayouts/slideLayout2.xml"/><Relationship Id="rId4" Type="http://schemas.openxmlformats.org/officeDocument/2006/relationships/image" Target="../media/image1.jpg"/></Relationships>
</file>

<file path=ppt/slides/_rels/slide11.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9.png"/><Relationship Id="rId1" Type="http://schemas.openxmlformats.org/officeDocument/2006/relationships/slideLayout" Target="../slideLayouts/slideLayout2.xml"/><Relationship Id="rId4" Type="http://schemas.openxmlformats.org/officeDocument/2006/relationships/image" Target="../media/image1.jpg"/></Relationships>
</file>

<file path=ppt/slides/_rels/slide14.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C21E816-31F5-48BB-BD02-D15F2F18B48A}"/>
              </a:ext>
            </a:extLst>
          </p:cNvPr>
          <p:cNvSpPr>
            <a:spLocks noGrp="1"/>
          </p:cNvSpPr>
          <p:nvPr>
            <p:ph type="ctrTitle"/>
          </p:nvPr>
        </p:nvSpPr>
        <p:spPr>
          <a:xfrm>
            <a:off x="446534" y="2764768"/>
            <a:ext cx="10993549" cy="623330"/>
          </a:xfrm>
        </p:spPr>
        <p:txBody>
          <a:bodyPr>
            <a:noAutofit/>
          </a:bodyPr>
          <a:lstStyle/>
          <a:p>
            <a:pPr algn="ctr"/>
            <a:r>
              <a:rPr lang="en-US" sz="4400" b="1" dirty="0">
                <a:solidFill>
                  <a:srgbClr val="1F1F1F"/>
                </a:solidFill>
                <a:effectLst/>
                <a:latin typeface="Arial" panose="020B0604020202020204" pitchFamily="34" charset="0"/>
                <a:cs typeface="Arial" panose="020B0604020202020204" pitchFamily="34" charset="0"/>
              </a:rPr>
              <a:t>Crowd Count</a:t>
            </a:r>
            <a:endParaRPr lang="en-US" sz="4400" b="1" dirty="0">
              <a:latin typeface="Arial" panose="020B0604020202020204" pitchFamily="34" charset="0"/>
              <a:cs typeface="Arial" panose="020B0604020202020204" pitchFamily="34" charset="0"/>
            </a:endParaRPr>
          </a:p>
        </p:txBody>
      </p:sp>
      <p:sp>
        <p:nvSpPr>
          <p:cNvPr id="10" name="TextBox 9">
            <a:extLst>
              <a:ext uri="{FF2B5EF4-FFF2-40B4-BE49-F238E27FC236}">
                <a16:creationId xmlns:a16="http://schemas.microsoft.com/office/drawing/2014/main" id="{B8B3D932-46C9-4CB0-8362-688CB068E75A}"/>
              </a:ext>
            </a:extLst>
          </p:cNvPr>
          <p:cNvSpPr txBox="1"/>
          <p:nvPr/>
        </p:nvSpPr>
        <p:spPr>
          <a:xfrm>
            <a:off x="250955" y="3467506"/>
            <a:ext cx="11685069" cy="523220"/>
          </a:xfrm>
          <a:prstGeom prst="rect">
            <a:avLst/>
          </a:prstGeom>
          <a:noFill/>
        </p:spPr>
        <p:txBody>
          <a:bodyPr wrap="square" rtlCol="0">
            <a:spAutoFit/>
          </a:bodyPr>
          <a:lstStyle/>
          <a:p>
            <a:pPr algn="ctr"/>
            <a:r>
              <a:rPr lang="en-US" sz="2800" b="1" dirty="0">
                <a:latin typeface="Arial" panose="020B0604020202020204" pitchFamily="34" charset="0"/>
                <a:cs typeface="Arial" panose="020B0604020202020204" pitchFamily="34" charset="0"/>
              </a:rPr>
              <a:t>Real-Time People Counting and Crowd Monitoring System</a:t>
            </a:r>
          </a:p>
        </p:txBody>
      </p:sp>
      <p:sp>
        <p:nvSpPr>
          <p:cNvPr id="11" name="TextBox 10">
            <a:extLst>
              <a:ext uri="{FF2B5EF4-FFF2-40B4-BE49-F238E27FC236}">
                <a16:creationId xmlns:a16="http://schemas.microsoft.com/office/drawing/2014/main" id="{8F296AEA-2E22-47A0-8F87-3ECCC0BBEEE4}"/>
              </a:ext>
            </a:extLst>
          </p:cNvPr>
          <p:cNvSpPr txBox="1"/>
          <p:nvPr/>
        </p:nvSpPr>
        <p:spPr>
          <a:xfrm flipH="1">
            <a:off x="1230991" y="4602918"/>
            <a:ext cx="3745269" cy="2246769"/>
          </a:xfrm>
          <a:prstGeom prst="rect">
            <a:avLst/>
          </a:prstGeom>
          <a:noFill/>
        </p:spPr>
        <p:txBody>
          <a:bodyPr wrap="square" rtlCol="0">
            <a:spAutoFit/>
          </a:bodyPr>
          <a:lstStyle/>
          <a:p>
            <a:r>
              <a:rPr lang="en-US" sz="2000" dirty="0">
                <a:latin typeface="Arial" panose="020B0604020202020204" pitchFamily="34" charset="0"/>
                <a:cs typeface="Arial" panose="020B0604020202020204" pitchFamily="34" charset="0"/>
              </a:rPr>
              <a:t>By: Shanta Angadageri</a:t>
            </a:r>
          </a:p>
          <a:p>
            <a:r>
              <a:rPr lang="en-US" sz="2000" dirty="0">
                <a:latin typeface="Arial" panose="020B0604020202020204" pitchFamily="34" charset="0"/>
                <a:cs typeface="Arial" panose="020B0604020202020204" pitchFamily="34" charset="0"/>
              </a:rPr>
              <a:t>Mentor: Asma</a:t>
            </a:r>
          </a:p>
          <a:p>
            <a:r>
              <a:rPr lang="en-US" sz="2000" dirty="0">
                <a:latin typeface="Arial" panose="020B0604020202020204" pitchFamily="34" charset="0"/>
                <a:cs typeface="Arial" panose="020B0604020202020204" pitchFamily="34" charset="0"/>
              </a:rPr>
              <a:t>Batch: 3</a:t>
            </a:r>
          </a:p>
          <a:p>
            <a:r>
              <a:rPr lang="en-US" sz="2000" dirty="0">
                <a:latin typeface="Arial" panose="020B0604020202020204" pitchFamily="34" charset="0"/>
                <a:cs typeface="Arial" panose="020B0604020202020204" pitchFamily="34" charset="0"/>
              </a:rPr>
              <a:t>Start Date: 22 September 2025</a:t>
            </a:r>
          </a:p>
          <a:p>
            <a:r>
              <a:rPr lang="en-US" sz="2000" dirty="0">
                <a:latin typeface="Arial" panose="020B0604020202020204" pitchFamily="34" charset="0"/>
                <a:cs typeface="Arial" panose="020B0604020202020204" pitchFamily="34" charset="0"/>
              </a:rPr>
              <a:t>End Date: 21 November 2025</a:t>
            </a:r>
          </a:p>
          <a:p>
            <a:endParaRPr lang="en-US" sz="2000" dirty="0">
              <a:latin typeface="Arial" panose="020B0604020202020204" pitchFamily="34" charset="0"/>
              <a:cs typeface="Arial" panose="020B0604020202020204" pitchFamily="34" charset="0"/>
            </a:endParaRPr>
          </a:p>
          <a:p>
            <a:endParaRPr lang="en-US" sz="2000" dirty="0">
              <a:latin typeface="Arial" panose="020B0604020202020204" pitchFamily="34" charset="0"/>
              <a:cs typeface="Arial" panose="020B0604020202020204" pitchFamily="34" charset="0"/>
            </a:endParaRPr>
          </a:p>
        </p:txBody>
      </p:sp>
      <p:sp>
        <p:nvSpPr>
          <p:cNvPr id="3" name="TextBox 2">
            <a:extLst>
              <a:ext uri="{FF2B5EF4-FFF2-40B4-BE49-F238E27FC236}">
                <a16:creationId xmlns:a16="http://schemas.microsoft.com/office/drawing/2014/main" id="{253DB32D-B238-4193-8706-69902575D654}"/>
              </a:ext>
            </a:extLst>
          </p:cNvPr>
          <p:cNvSpPr txBox="1"/>
          <p:nvPr/>
        </p:nvSpPr>
        <p:spPr>
          <a:xfrm>
            <a:off x="887088" y="280287"/>
            <a:ext cx="9644515" cy="646331"/>
          </a:xfrm>
          <a:prstGeom prst="rect">
            <a:avLst/>
          </a:prstGeom>
          <a:noFill/>
        </p:spPr>
        <p:txBody>
          <a:bodyPr wrap="square" rtlCol="0">
            <a:spAutoFit/>
          </a:bodyPr>
          <a:lstStyle/>
          <a:p>
            <a:r>
              <a:rPr lang="en-US" sz="3600" b="1" dirty="0">
                <a:latin typeface="Arial" panose="020B0604020202020204" pitchFamily="34" charset="0"/>
                <a:cs typeface="Arial" panose="020B0604020202020204" pitchFamily="34" charset="0"/>
              </a:rPr>
              <a:t>Infosys Springboard Virtual Internship 6.0</a:t>
            </a:r>
          </a:p>
        </p:txBody>
      </p:sp>
      <p:pic>
        <p:nvPicPr>
          <p:cNvPr id="5" name="Picture 4">
            <a:extLst>
              <a:ext uri="{FF2B5EF4-FFF2-40B4-BE49-F238E27FC236}">
                <a16:creationId xmlns:a16="http://schemas.microsoft.com/office/drawing/2014/main" id="{6CD5EAFF-DD65-4CB5-ACEE-4E955F35882E}"/>
              </a:ext>
            </a:extLst>
          </p:cNvPr>
          <p:cNvPicPr>
            <a:picLocks noChangeAspect="1"/>
          </p:cNvPicPr>
          <p:nvPr/>
        </p:nvPicPr>
        <p:blipFill>
          <a:blip r:embed="rId2"/>
          <a:stretch>
            <a:fillRect/>
          </a:stretch>
        </p:blipFill>
        <p:spPr>
          <a:xfrm>
            <a:off x="3569169" y="1233280"/>
            <a:ext cx="4073290" cy="1259879"/>
          </a:xfrm>
          <a:prstGeom prst="rect">
            <a:avLst/>
          </a:prstGeom>
        </p:spPr>
      </p:pic>
    </p:spTree>
    <p:extLst>
      <p:ext uri="{BB962C8B-B14F-4D97-AF65-F5344CB8AC3E}">
        <p14:creationId xmlns:p14="http://schemas.microsoft.com/office/powerpoint/2010/main" val="247580555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E00C2E2-C77A-4A2C-9F86-E825C1B2D16E}"/>
              </a:ext>
            </a:extLst>
          </p:cNvPr>
          <p:cNvSpPr>
            <a:spLocks noGrp="1"/>
          </p:cNvSpPr>
          <p:nvPr>
            <p:ph type="title"/>
          </p:nvPr>
        </p:nvSpPr>
        <p:spPr>
          <a:xfrm>
            <a:off x="2599055" y="673769"/>
            <a:ext cx="6993890" cy="658842"/>
          </a:xfrm>
        </p:spPr>
        <p:txBody>
          <a:bodyPr>
            <a:normAutofit/>
          </a:bodyPr>
          <a:lstStyle/>
          <a:p>
            <a:pPr algn="ctr"/>
            <a:r>
              <a:rPr lang="en-US" sz="3200" b="1" cap="none" dirty="0">
                <a:latin typeface="Arial" panose="020B0604020202020204" pitchFamily="34" charset="0"/>
                <a:cs typeface="Arial" panose="020B0604020202020204" pitchFamily="34" charset="0"/>
              </a:rPr>
              <a:t>CONTENTS</a:t>
            </a:r>
          </a:p>
        </p:txBody>
      </p:sp>
      <p:sp>
        <p:nvSpPr>
          <p:cNvPr id="3" name="Content Placeholder 2">
            <a:extLst>
              <a:ext uri="{FF2B5EF4-FFF2-40B4-BE49-F238E27FC236}">
                <a16:creationId xmlns:a16="http://schemas.microsoft.com/office/drawing/2014/main" id="{1BBB06B7-C279-4373-B622-CDE165E32414}"/>
              </a:ext>
            </a:extLst>
          </p:cNvPr>
          <p:cNvSpPr>
            <a:spLocks noGrp="1"/>
          </p:cNvSpPr>
          <p:nvPr>
            <p:ph idx="1"/>
          </p:nvPr>
        </p:nvSpPr>
        <p:spPr>
          <a:xfrm>
            <a:off x="2522052" y="1505865"/>
            <a:ext cx="7147895" cy="5183693"/>
          </a:xfrm>
        </p:spPr>
        <p:txBody>
          <a:bodyPr>
            <a:noAutofit/>
          </a:bodyPr>
          <a:lstStyle/>
          <a:p>
            <a:r>
              <a:rPr lang="en-US" sz="2400" dirty="0">
                <a:latin typeface="Arial" panose="020B0604020202020204" pitchFamily="34" charset="0"/>
                <a:cs typeface="Arial" panose="020B0604020202020204" pitchFamily="34" charset="0"/>
              </a:rPr>
              <a:t>Introduction</a:t>
            </a:r>
          </a:p>
          <a:p>
            <a:r>
              <a:rPr lang="en-US" sz="2400" dirty="0">
                <a:latin typeface="Arial" panose="020B0604020202020204" pitchFamily="34" charset="0"/>
                <a:cs typeface="Arial" panose="020B0604020202020204" pitchFamily="34" charset="0"/>
              </a:rPr>
              <a:t>Problem Statement</a:t>
            </a:r>
          </a:p>
          <a:p>
            <a:r>
              <a:rPr lang="en-US" sz="2400" dirty="0">
                <a:latin typeface="Arial" panose="020B0604020202020204" pitchFamily="34" charset="0"/>
                <a:cs typeface="Arial" panose="020B0604020202020204" pitchFamily="34" charset="0"/>
              </a:rPr>
              <a:t>Objectives</a:t>
            </a:r>
          </a:p>
          <a:p>
            <a:r>
              <a:rPr lang="en-US" sz="2400" dirty="0">
                <a:latin typeface="Arial" panose="020B0604020202020204" pitchFamily="34" charset="0"/>
                <a:cs typeface="Arial" panose="020B0604020202020204" pitchFamily="34" charset="0"/>
              </a:rPr>
              <a:t>Proposed Model</a:t>
            </a:r>
          </a:p>
          <a:p>
            <a:r>
              <a:rPr lang="en-US" sz="2400" dirty="0">
                <a:latin typeface="Arial" panose="020B0604020202020204" pitchFamily="34" charset="0"/>
                <a:cs typeface="Arial" panose="020B0604020202020204" pitchFamily="34" charset="0"/>
              </a:rPr>
              <a:t>Tools and Technologies </a:t>
            </a:r>
          </a:p>
          <a:p>
            <a:r>
              <a:rPr lang="en-US" sz="2400" dirty="0">
                <a:latin typeface="Arial" panose="020B0604020202020204" pitchFamily="34" charset="0"/>
                <a:cs typeface="Arial" panose="020B0604020202020204" pitchFamily="34" charset="0"/>
              </a:rPr>
              <a:t>Results</a:t>
            </a:r>
          </a:p>
          <a:p>
            <a:r>
              <a:rPr lang="en-US" sz="2400" dirty="0">
                <a:latin typeface="Arial" panose="020B0604020202020204" pitchFamily="34" charset="0"/>
                <a:cs typeface="Arial" panose="020B0604020202020204" pitchFamily="34" charset="0"/>
              </a:rPr>
              <a:t>Applications</a:t>
            </a:r>
          </a:p>
          <a:p>
            <a:r>
              <a:rPr lang="en-US" sz="2400" dirty="0">
                <a:latin typeface="Arial" panose="020B0604020202020204" pitchFamily="34" charset="0"/>
                <a:cs typeface="Arial" panose="020B0604020202020204" pitchFamily="34" charset="0"/>
              </a:rPr>
              <a:t>Future Enhancement</a:t>
            </a:r>
          </a:p>
          <a:p>
            <a:r>
              <a:rPr lang="en-US" sz="2400" dirty="0">
                <a:latin typeface="Arial" panose="020B0604020202020204" pitchFamily="34" charset="0"/>
                <a:cs typeface="Arial" panose="020B0604020202020204" pitchFamily="34" charset="0"/>
              </a:rPr>
              <a:t>Conclusion</a:t>
            </a:r>
          </a:p>
        </p:txBody>
      </p:sp>
      <p:pic>
        <p:nvPicPr>
          <p:cNvPr id="6" name="Picture 5">
            <a:extLst>
              <a:ext uri="{FF2B5EF4-FFF2-40B4-BE49-F238E27FC236}">
                <a16:creationId xmlns:a16="http://schemas.microsoft.com/office/drawing/2014/main" id="{2F73290B-BDB4-4ED7-895F-FD21C09D6903}"/>
              </a:ext>
            </a:extLst>
          </p:cNvPr>
          <p:cNvPicPr>
            <a:picLocks noChangeAspect="1"/>
          </p:cNvPicPr>
          <p:nvPr/>
        </p:nvPicPr>
        <p:blipFill>
          <a:blip r:embed="rId2"/>
          <a:stretch>
            <a:fillRect/>
          </a:stretch>
        </p:blipFill>
        <p:spPr>
          <a:xfrm>
            <a:off x="279132" y="168442"/>
            <a:ext cx="1636295" cy="506110"/>
          </a:xfrm>
          <a:prstGeom prst="rect">
            <a:avLst/>
          </a:prstGeom>
        </p:spPr>
      </p:pic>
    </p:spTree>
    <p:extLst>
      <p:ext uri="{BB962C8B-B14F-4D97-AF65-F5344CB8AC3E}">
        <p14:creationId xmlns:p14="http://schemas.microsoft.com/office/powerpoint/2010/main" val="333710556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25E445D-C0D0-4506-8932-8E58E0655C3C}"/>
              </a:ext>
            </a:extLst>
          </p:cNvPr>
          <p:cNvSpPr>
            <a:spLocks noGrp="1"/>
          </p:cNvSpPr>
          <p:nvPr>
            <p:ph type="title"/>
          </p:nvPr>
        </p:nvSpPr>
        <p:spPr>
          <a:xfrm>
            <a:off x="465690" y="668731"/>
            <a:ext cx="9640836" cy="697343"/>
          </a:xfrm>
        </p:spPr>
        <p:txBody>
          <a:bodyPr>
            <a:normAutofit/>
          </a:bodyPr>
          <a:lstStyle/>
          <a:p>
            <a:pPr algn="ctr"/>
            <a:r>
              <a:rPr lang="en-US" sz="3200" b="1" dirty="0">
                <a:latin typeface="Arial" panose="020B0604020202020204" pitchFamily="34" charset="0"/>
                <a:cs typeface="Arial" panose="020B0604020202020204" pitchFamily="34" charset="0"/>
              </a:rPr>
              <a:t>  INTRODUCTION</a:t>
            </a:r>
            <a:endParaRPr lang="en-US" sz="3200" b="1" dirty="0"/>
          </a:p>
        </p:txBody>
      </p:sp>
      <p:sp>
        <p:nvSpPr>
          <p:cNvPr id="3" name="Content Placeholder 2">
            <a:extLst>
              <a:ext uri="{FF2B5EF4-FFF2-40B4-BE49-F238E27FC236}">
                <a16:creationId xmlns:a16="http://schemas.microsoft.com/office/drawing/2014/main" id="{2F9C66F7-CD23-4659-BC23-5F7DC28F3795}"/>
              </a:ext>
            </a:extLst>
          </p:cNvPr>
          <p:cNvSpPr>
            <a:spLocks noGrp="1"/>
          </p:cNvSpPr>
          <p:nvPr>
            <p:ph idx="1"/>
          </p:nvPr>
        </p:nvSpPr>
        <p:spPr>
          <a:xfrm>
            <a:off x="847023" y="1819176"/>
            <a:ext cx="8903370" cy="4175426"/>
          </a:xfrm>
        </p:spPr>
        <p:txBody>
          <a:bodyPr numCol="1">
            <a:noAutofit/>
          </a:bodyPr>
          <a:lstStyle/>
          <a:p>
            <a:pPr marL="0" indent="0" algn="just">
              <a:buNone/>
            </a:pPr>
            <a:r>
              <a:rPr lang="en-US" sz="2400" b="0" i="0" dirty="0">
                <a:effectLst/>
                <a:latin typeface="Arial" panose="020B0604020202020204" pitchFamily="34" charset="0"/>
                <a:cs typeface="Arial" panose="020B0604020202020204" pitchFamily="34" charset="0"/>
              </a:rPr>
              <a:t>                  This project is a real-time crowd and video analysis web application built using Flask and advanced computer vision models such as YOLO combined with </a:t>
            </a:r>
            <a:r>
              <a:rPr lang="en-US" sz="2400" b="0" i="0" dirty="0" err="1">
                <a:effectLst/>
                <a:latin typeface="Arial" panose="020B0604020202020204" pitchFamily="34" charset="0"/>
                <a:cs typeface="Arial" panose="020B0604020202020204" pitchFamily="34" charset="0"/>
              </a:rPr>
              <a:t>ByteTrack</a:t>
            </a:r>
            <a:r>
              <a:rPr lang="en-US" sz="2400" b="0" i="0" dirty="0">
                <a:effectLst/>
                <a:latin typeface="Arial" panose="020B0604020202020204" pitchFamily="34" charset="0"/>
                <a:cs typeface="Arial" panose="020B0604020202020204" pitchFamily="34" charset="0"/>
              </a:rPr>
              <a:t> for tracking individuals. It enables users to securely upload videos and images for detailed crowd monitoring, providing live video streams annotated with detection data, zone-based counting, and predictive alerts. The system also features dynamic data visualization through charts, heatmaps, and downloadable reports, delivering actionable insights to enhance public safety and operational efficiency in crowded environments.</a:t>
            </a:r>
            <a:endParaRPr lang="en-US" sz="2400" dirty="0">
              <a:latin typeface="Arial" panose="020B0604020202020204" pitchFamily="34" charset="0"/>
              <a:cs typeface="Arial" panose="020B0604020202020204" pitchFamily="34" charset="0"/>
            </a:endParaRPr>
          </a:p>
        </p:txBody>
      </p:sp>
      <p:pic>
        <p:nvPicPr>
          <p:cNvPr id="6" name="Picture 5">
            <a:extLst>
              <a:ext uri="{FF2B5EF4-FFF2-40B4-BE49-F238E27FC236}">
                <a16:creationId xmlns:a16="http://schemas.microsoft.com/office/drawing/2014/main" id="{BFD1FC13-8A66-4254-87CA-0CF5D596BA22}"/>
              </a:ext>
            </a:extLst>
          </p:cNvPr>
          <p:cNvPicPr>
            <a:picLocks noChangeAspect="1"/>
          </p:cNvPicPr>
          <p:nvPr/>
        </p:nvPicPr>
        <p:blipFill>
          <a:blip r:embed="rId2"/>
          <a:stretch>
            <a:fillRect/>
          </a:stretch>
        </p:blipFill>
        <p:spPr>
          <a:xfrm>
            <a:off x="279132" y="168442"/>
            <a:ext cx="1636295" cy="506110"/>
          </a:xfrm>
          <a:prstGeom prst="rect">
            <a:avLst/>
          </a:prstGeom>
        </p:spPr>
      </p:pic>
    </p:spTree>
    <p:extLst>
      <p:ext uri="{BB962C8B-B14F-4D97-AF65-F5344CB8AC3E}">
        <p14:creationId xmlns:p14="http://schemas.microsoft.com/office/powerpoint/2010/main" val="64836119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D897327-C4E2-4465-87F9-57A99B934137}"/>
              </a:ext>
            </a:extLst>
          </p:cNvPr>
          <p:cNvSpPr>
            <a:spLocks noGrp="1"/>
          </p:cNvSpPr>
          <p:nvPr>
            <p:ph type="title"/>
          </p:nvPr>
        </p:nvSpPr>
        <p:spPr>
          <a:xfrm>
            <a:off x="1129722" y="840606"/>
            <a:ext cx="8596668" cy="834189"/>
          </a:xfrm>
        </p:spPr>
        <p:txBody>
          <a:bodyPr>
            <a:normAutofit/>
          </a:bodyPr>
          <a:lstStyle/>
          <a:p>
            <a:pPr algn="ctr"/>
            <a:r>
              <a:rPr lang="en-US" sz="3200" b="1" dirty="0">
                <a:latin typeface="Arial" panose="020B0604020202020204" pitchFamily="34" charset="0"/>
                <a:cs typeface="Arial" panose="020B0604020202020204" pitchFamily="34" charset="0"/>
              </a:rPr>
              <a:t>PROBLEM STATEMENT</a:t>
            </a:r>
            <a:endParaRPr lang="en-US" sz="3200" b="1" dirty="0"/>
          </a:p>
        </p:txBody>
      </p:sp>
      <p:sp>
        <p:nvSpPr>
          <p:cNvPr id="3" name="Content Placeholder 2">
            <a:extLst>
              <a:ext uri="{FF2B5EF4-FFF2-40B4-BE49-F238E27FC236}">
                <a16:creationId xmlns:a16="http://schemas.microsoft.com/office/drawing/2014/main" id="{E5460A2D-491E-463F-9848-7B4726049108}"/>
              </a:ext>
            </a:extLst>
          </p:cNvPr>
          <p:cNvSpPr>
            <a:spLocks noGrp="1"/>
          </p:cNvSpPr>
          <p:nvPr>
            <p:ph idx="1"/>
          </p:nvPr>
        </p:nvSpPr>
        <p:spPr>
          <a:xfrm>
            <a:off x="898715" y="1765953"/>
            <a:ext cx="8596668" cy="4394215"/>
          </a:xfrm>
        </p:spPr>
        <p:txBody>
          <a:bodyPr>
            <a:noAutofit/>
          </a:bodyPr>
          <a:lstStyle/>
          <a:p>
            <a:pPr marL="0" indent="0" algn="just">
              <a:buNone/>
            </a:pPr>
            <a:r>
              <a:rPr lang="en-US" sz="2400" b="0" i="0" dirty="0">
                <a:effectLst/>
                <a:latin typeface="Arial" panose="020B0604020202020204" pitchFamily="34" charset="0"/>
                <a:cs typeface="Arial" panose="020B0604020202020204" pitchFamily="34" charset="0"/>
              </a:rPr>
              <a:t>                Managing and ensuring safety in crowded public spaces is a complex challenge, especially with increasing populations worldwide. Traditional manual monitoring methods are labor-intensive, error-prone, and often ineffective in real-time scenarios. There is a critical need for an automated, intelligent system that can accurately detect, track, and analyze crowd density and movement in real time to prevent overcrowding, reduce risks, and enable timely interventions. This project addresses these challenges by combining computer vision with web technologies to provide an efficient, scalable crowd analysis and alert system.</a:t>
            </a:r>
            <a:endParaRPr lang="en-US" sz="2400" dirty="0">
              <a:latin typeface="Arial" panose="020B0604020202020204" pitchFamily="34" charset="0"/>
              <a:cs typeface="Arial" panose="020B0604020202020204" pitchFamily="34" charset="0"/>
            </a:endParaRPr>
          </a:p>
        </p:txBody>
      </p:sp>
      <p:pic>
        <p:nvPicPr>
          <p:cNvPr id="6" name="Picture 5">
            <a:extLst>
              <a:ext uri="{FF2B5EF4-FFF2-40B4-BE49-F238E27FC236}">
                <a16:creationId xmlns:a16="http://schemas.microsoft.com/office/drawing/2014/main" id="{5EF5C349-40BE-40A3-955B-AF8A11A62DF5}"/>
              </a:ext>
            </a:extLst>
          </p:cNvPr>
          <p:cNvPicPr>
            <a:picLocks noChangeAspect="1"/>
          </p:cNvPicPr>
          <p:nvPr/>
        </p:nvPicPr>
        <p:blipFill>
          <a:blip r:embed="rId2"/>
          <a:stretch>
            <a:fillRect/>
          </a:stretch>
        </p:blipFill>
        <p:spPr>
          <a:xfrm>
            <a:off x="279132" y="168442"/>
            <a:ext cx="1636295" cy="506110"/>
          </a:xfrm>
          <a:prstGeom prst="rect">
            <a:avLst/>
          </a:prstGeom>
        </p:spPr>
      </p:pic>
    </p:spTree>
    <p:extLst>
      <p:ext uri="{BB962C8B-B14F-4D97-AF65-F5344CB8AC3E}">
        <p14:creationId xmlns:p14="http://schemas.microsoft.com/office/powerpoint/2010/main" val="426246882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3D7A46A-54C3-4D17-981E-49464BA0A043}"/>
              </a:ext>
            </a:extLst>
          </p:cNvPr>
          <p:cNvSpPr>
            <a:spLocks noGrp="1"/>
          </p:cNvSpPr>
          <p:nvPr>
            <p:ph type="title"/>
          </p:nvPr>
        </p:nvSpPr>
        <p:spPr>
          <a:xfrm>
            <a:off x="3744227" y="452388"/>
            <a:ext cx="6913680" cy="723345"/>
          </a:xfrm>
        </p:spPr>
        <p:txBody>
          <a:bodyPr>
            <a:normAutofit/>
          </a:bodyPr>
          <a:lstStyle/>
          <a:p>
            <a:r>
              <a:rPr lang="en-US" sz="3200" b="1" dirty="0">
                <a:latin typeface="Arial" panose="020B0604020202020204" pitchFamily="34" charset="0"/>
                <a:cs typeface="Arial" panose="020B0604020202020204" pitchFamily="34" charset="0"/>
              </a:rPr>
              <a:t>OBJECTIVES</a:t>
            </a:r>
          </a:p>
        </p:txBody>
      </p:sp>
      <p:sp>
        <p:nvSpPr>
          <p:cNvPr id="3" name="Content Placeholder 2">
            <a:extLst>
              <a:ext uri="{FF2B5EF4-FFF2-40B4-BE49-F238E27FC236}">
                <a16:creationId xmlns:a16="http://schemas.microsoft.com/office/drawing/2014/main" id="{CC5316EB-ADC8-4B0B-9755-D4B609E298C0}"/>
              </a:ext>
            </a:extLst>
          </p:cNvPr>
          <p:cNvSpPr>
            <a:spLocks noGrp="1"/>
          </p:cNvSpPr>
          <p:nvPr>
            <p:ph idx="1"/>
          </p:nvPr>
        </p:nvSpPr>
        <p:spPr>
          <a:xfrm>
            <a:off x="715833" y="1249373"/>
            <a:ext cx="9592823" cy="5156239"/>
          </a:xfrm>
        </p:spPr>
        <p:txBody>
          <a:bodyPr>
            <a:noAutofit/>
          </a:bodyPr>
          <a:lstStyle/>
          <a:p>
            <a:pPr algn="just"/>
            <a:r>
              <a:rPr lang="en-US" sz="2400" b="0" i="0" dirty="0">
                <a:effectLst/>
                <a:latin typeface="Arial" panose="020B0604020202020204" pitchFamily="34" charset="0"/>
                <a:cs typeface="Arial" panose="020B0604020202020204" pitchFamily="34" charset="0"/>
              </a:rPr>
              <a:t>To Detection and Tracking using YOLOv8 model with </a:t>
            </a:r>
            <a:r>
              <a:rPr lang="en-US" sz="2400" b="0" i="0" dirty="0" err="1">
                <a:effectLst/>
                <a:latin typeface="Arial" panose="020B0604020202020204" pitchFamily="34" charset="0"/>
                <a:cs typeface="Arial" panose="020B0604020202020204" pitchFamily="34" charset="0"/>
              </a:rPr>
              <a:t>ByteTrack</a:t>
            </a:r>
            <a:r>
              <a:rPr lang="en-US" sz="2400" b="0" i="0" dirty="0">
                <a:effectLst/>
                <a:latin typeface="Arial" panose="020B0604020202020204" pitchFamily="34" charset="0"/>
                <a:cs typeface="Arial" panose="020B0604020202020204" pitchFamily="34" charset="0"/>
              </a:rPr>
              <a:t> for real-time detection and tracking of people in uploaded videos and webcam streams.</a:t>
            </a:r>
          </a:p>
          <a:p>
            <a:pPr algn="just"/>
            <a:r>
              <a:rPr lang="en-US" sz="2400" b="0" i="0" dirty="0">
                <a:effectLst/>
                <a:latin typeface="Arial" panose="020B0604020202020204" pitchFamily="34" charset="0"/>
                <a:cs typeface="Arial" panose="020B0604020202020204" pitchFamily="34" charset="0"/>
              </a:rPr>
              <a:t>To enable zone-based crowd analysis, tracking density and movement within defined regions and provide timely alerts</a:t>
            </a:r>
          </a:p>
          <a:p>
            <a:pPr algn="just"/>
            <a:r>
              <a:rPr lang="en-US" sz="2400" b="0" i="0" dirty="0">
                <a:effectLst/>
                <a:latin typeface="Arial" panose="020B0604020202020204" pitchFamily="34" charset="0"/>
                <a:cs typeface="Arial" panose="020B0604020202020204" pitchFamily="34" charset="0"/>
              </a:rPr>
              <a:t>To Build a secure role-based access control for the admin that allows for user management. </a:t>
            </a:r>
          </a:p>
          <a:p>
            <a:pPr algn="just"/>
            <a:r>
              <a:rPr lang="en-US" sz="2400" b="0" i="0" dirty="0">
                <a:effectLst/>
                <a:latin typeface="Arial" panose="020B0604020202020204" pitchFamily="34" charset="0"/>
                <a:cs typeface="Arial" panose="020B0604020202020204" pitchFamily="34" charset="0"/>
              </a:rPr>
              <a:t>Provide dynamic visualizations including bar charts, line charts, and heatmaps that illustrate crowd trends over time, empowering users to analyze and understand crowd behavior.</a:t>
            </a:r>
          </a:p>
          <a:p>
            <a:pPr algn="just"/>
            <a:r>
              <a:rPr lang="en-US" sz="2400" b="0" i="0" dirty="0">
                <a:effectLst/>
                <a:latin typeface="Arial" panose="020B0604020202020204" pitchFamily="34" charset="0"/>
                <a:cs typeface="Arial" panose="020B0604020202020204" pitchFamily="34" charset="0"/>
              </a:rPr>
              <a:t>Allow users to download  CSV files containing detailed crowd analysis</a:t>
            </a:r>
            <a:endParaRPr lang="en-US" sz="2400" dirty="0">
              <a:latin typeface="Arial" panose="020B0604020202020204" pitchFamily="34" charset="0"/>
              <a:cs typeface="Arial" panose="020B0604020202020204" pitchFamily="34" charset="0"/>
            </a:endParaRPr>
          </a:p>
        </p:txBody>
      </p:sp>
      <p:pic>
        <p:nvPicPr>
          <p:cNvPr id="5" name="Picture 4">
            <a:extLst>
              <a:ext uri="{FF2B5EF4-FFF2-40B4-BE49-F238E27FC236}">
                <a16:creationId xmlns:a16="http://schemas.microsoft.com/office/drawing/2014/main" id="{2AD4D98D-9FCA-4459-B078-0AE829326E63}"/>
              </a:ext>
            </a:extLst>
          </p:cNvPr>
          <p:cNvPicPr>
            <a:picLocks noChangeAspect="1"/>
          </p:cNvPicPr>
          <p:nvPr/>
        </p:nvPicPr>
        <p:blipFill>
          <a:blip r:embed="rId2"/>
          <a:stretch>
            <a:fillRect/>
          </a:stretch>
        </p:blipFill>
        <p:spPr>
          <a:xfrm>
            <a:off x="279132" y="168442"/>
            <a:ext cx="1636295" cy="506110"/>
          </a:xfrm>
          <a:prstGeom prst="rect">
            <a:avLst/>
          </a:prstGeom>
        </p:spPr>
      </p:pic>
    </p:spTree>
    <p:extLst>
      <p:ext uri="{BB962C8B-B14F-4D97-AF65-F5344CB8AC3E}">
        <p14:creationId xmlns:p14="http://schemas.microsoft.com/office/powerpoint/2010/main" val="231485476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B8D6912-4BDF-4FCC-946E-68EDFE30F843}"/>
              </a:ext>
            </a:extLst>
          </p:cNvPr>
          <p:cNvSpPr>
            <a:spLocks noGrp="1"/>
          </p:cNvSpPr>
          <p:nvPr>
            <p:ph type="title"/>
          </p:nvPr>
        </p:nvSpPr>
        <p:spPr>
          <a:xfrm>
            <a:off x="3340199" y="74133"/>
            <a:ext cx="4221814" cy="706969"/>
          </a:xfrm>
        </p:spPr>
        <p:txBody>
          <a:bodyPr>
            <a:noAutofit/>
          </a:bodyPr>
          <a:lstStyle/>
          <a:p>
            <a:r>
              <a:rPr lang="en-US" sz="3200" b="1" dirty="0">
                <a:latin typeface="Arial" panose="020B0604020202020204" pitchFamily="34" charset="0"/>
                <a:cs typeface="Arial" panose="020B0604020202020204" pitchFamily="34" charset="0"/>
              </a:rPr>
              <a:t>PROPOSED MODEL</a:t>
            </a:r>
            <a:endParaRPr lang="en-US" sz="3200" b="1" dirty="0"/>
          </a:p>
        </p:txBody>
      </p:sp>
      <p:sp>
        <p:nvSpPr>
          <p:cNvPr id="4" name="Rectangle 3">
            <a:extLst>
              <a:ext uri="{FF2B5EF4-FFF2-40B4-BE49-F238E27FC236}">
                <a16:creationId xmlns:a16="http://schemas.microsoft.com/office/drawing/2014/main" id="{D181C3B0-302C-469C-9324-C175FAB0FF35}"/>
              </a:ext>
            </a:extLst>
          </p:cNvPr>
          <p:cNvSpPr/>
          <p:nvPr/>
        </p:nvSpPr>
        <p:spPr>
          <a:xfrm>
            <a:off x="4061860" y="749338"/>
            <a:ext cx="2220228" cy="643442"/>
          </a:xfrm>
          <a:prstGeom prst="rect">
            <a:avLst/>
          </a:prstGeom>
          <a:solidFill>
            <a:schemeClr val="accent4">
              <a:lumMod val="40000"/>
              <a:lumOff val="6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Video Input(camera)</a:t>
            </a:r>
          </a:p>
        </p:txBody>
      </p:sp>
      <p:sp>
        <p:nvSpPr>
          <p:cNvPr id="5" name="Rectangle 4">
            <a:extLst>
              <a:ext uri="{FF2B5EF4-FFF2-40B4-BE49-F238E27FC236}">
                <a16:creationId xmlns:a16="http://schemas.microsoft.com/office/drawing/2014/main" id="{C03B7A69-6DB3-4CD8-9EEF-059DBD2EDC05}"/>
              </a:ext>
            </a:extLst>
          </p:cNvPr>
          <p:cNvSpPr/>
          <p:nvPr/>
        </p:nvSpPr>
        <p:spPr>
          <a:xfrm>
            <a:off x="4061860" y="1881389"/>
            <a:ext cx="2220228" cy="496657"/>
          </a:xfrm>
          <a:prstGeom prst="rect">
            <a:avLst/>
          </a:prstGeom>
          <a:solidFill>
            <a:schemeClr val="accent4">
              <a:lumMod val="40000"/>
              <a:lumOff val="6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Detection(YOLOv8)</a:t>
            </a:r>
          </a:p>
        </p:txBody>
      </p:sp>
      <p:sp>
        <p:nvSpPr>
          <p:cNvPr id="6" name="Rectangle 5">
            <a:extLst>
              <a:ext uri="{FF2B5EF4-FFF2-40B4-BE49-F238E27FC236}">
                <a16:creationId xmlns:a16="http://schemas.microsoft.com/office/drawing/2014/main" id="{4B47CAA1-02A3-42D2-A21E-8F3936B212EB}"/>
              </a:ext>
            </a:extLst>
          </p:cNvPr>
          <p:cNvSpPr/>
          <p:nvPr/>
        </p:nvSpPr>
        <p:spPr>
          <a:xfrm>
            <a:off x="4065068" y="2866656"/>
            <a:ext cx="2220228" cy="496657"/>
          </a:xfrm>
          <a:prstGeom prst="rect">
            <a:avLst/>
          </a:prstGeom>
          <a:solidFill>
            <a:schemeClr val="accent4">
              <a:lumMod val="40000"/>
              <a:lumOff val="6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Tracking</a:t>
            </a:r>
          </a:p>
        </p:txBody>
      </p:sp>
      <p:sp>
        <p:nvSpPr>
          <p:cNvPr id="7" name="Diamond 6">
            <a:extLst>
              <a:ext uri="{FF2B5EF4-FFF2-40B4-BE49-F238E27FC236}">
                <a16:creationId xmlns:a16="http://schemas.microsoft.com/office/drawing/2014/main" id="{F41E1BBF-6A2B-46BD-A074-E8546BC7C6D9}"/>
              </a:ext>
            </a:extLst>
          </p:cNvPr>
          <p:cNvSpPr/>
          <p:nvPr/>
        </p:nvSpPr>
        <p:spPr>
          <a:xfrm>
            <a:off x="4061860" y="3851922"/>
            <a:ext cx="2220228" cy="1405289"/>
          </a:xfrm>
          <a:prstGeom prst="diamond">
            <a:avLst/>
          </a:prstGeom>
          <a:solidFill>
            <a:schemeClr val="accent4">
              <a:lumMod val="40000"/>
              <a:lumOff val="6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People Counting</a:t>
            </a:r>
          </a:p>
        </p:txBody>
      </p:sp>
      <p:sp>
        <p:nvSpPr>
          <p:cNvPr id="8" name="Rectangle 7">
            <a:extLst>
              <a:ext uri="{FF2B5EF4-FFF2-40B4-BE49-F238E27FC236}">
                <a16:creationId xmlns:a16="http://schemas.microsoft.com/office/drawing/2014/main" id="{58CCE3E2-ED04-4365-90CB-864FCB8784E6}"/>
              </a:ext>
            </a:extLst>
          </p:cNvPr>
          <p:cNvSpPr/>
          <p:nvPr/>
        </p:nvSpPr>
        <p:spPr>
          <a:xfrm>
            <a:off x="6096000" y="5758310"/>
            <a:ext cx="1694046" cy="763269"/>
          </a:xfrm>
          <a:prstGeom prst="rect">
            <a:avLst/>
          </a:prstGeom>
          <a:solidFill>
            <a:schemeClr val="accent4">
              <a:lumMod val="40000"/>
              <a:lumOff val="6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CSV File</a:t>
            </a:r>
          </a:p>
        </p:txBody>
      </p:sp>
      <p:sp>
        <p:nvSpPr>
          <p:cNvPr id="9" name="Rectangle 8">
            <a:extLst>
              <a:ext uri="{FF2B5EF4-FFF2-40B4-BE49-F238E27FC236}">
                <a16:creationId xmlns:a16="http://schemas.microsoft.com/office/drawing/2014/main" id="{B56C399B-D819-436E-9531-D7F7C8B44146}"/>
              </a:ext>
            </a:extLst>
          </p:cNvPr>
          <p:cNvSpPr/>
          <p:nvPr/>
        </p:nvSpPr>
        <p:spPr>
          <a:xfrm>
            <a:off x="2493176" y="5761690"/>
            <a:ext cx="1694046" cy="763269"/>
          </a:xfrm>
          <a:prstGeom prst="rect">
            <a:avLst/>
          </a:prstGeom>
          <a:solidFill>
            <a:schemeClr val="accent4">
              <a:lumMod val="40000"/>
              <a:lumOff val="6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Charts</a:t>
            </a:r>
          </a:p>
        </p:txBody>
      </p:sp>
      <p:cxnSp>
        <p:nvCxnSpPr>
          <p:cNvPr id="12" name="Straight Arrow Connector 11">
            <a:extLst>
              <a:ext uri="{FF2B5EF4-FFF2-40B4-BE49-F238E27FC236}">
                <a16:creationId xmlns:a16="http://schemas.microsoft.com/office/drawing/2014/main" id="{374D9E7A-65E6-4D1C-A187-A87FED666454}"/>
              </a:ext>
            </a:extLst>
          </p:cNvPr>
          <p:cNvCxnSpPr>
            <a:cxnSpLocks/>
            <a:stCxn id="5" idx="2"/>
          </p:cNvCxnSpPr>
          <p:nvPr/>
        </p:nvCxnSpPr>
        <p:spPr>
          <a:xfrm>
            <a:off x="5171974" y="2378046"/>
            <a:ext cx="0" cy="48861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9" name="Straight Arrow Connector 18">
            <a:extLst>
              <a:ext uri="{FF2B5EF4-FFF2-40B4-BE49-F238E27FC236}">
                <a16:creationId xmlns:a16="http://schemas.microsoft.com/office/drawing/2014/main" id="{3D64973A-5CEB-4C0A-BC02-6ADDFD7D9036}"/>
              </a:ext>
            </a:extLst>
          </p:cNvPr>
          <p:cNvCxnSpPr>
            <a:cxnSpLocks/>
          </p:cNvCxnSpPr>
          <p:nvPr/>
        </p:nvCxnSpPr>
        <p:spPr>
          <a:xfrm>
            <a:off x="5171974" y="3363313"/>
            <a:ext cx="0" cy="48861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0" name="Straight Arrow Connector 19">
            <a:extLst>
              <a:ext uri="{FF2B5EF4-FFF2-40B4-BE49-F238E27FC236}">
                <a16:creationId xmlns:a16="http://schemas.microsoft.com/office/drawing/2014/main" id="{0F23849F-F0EC-45C5-96F1-21FD56C53723}"/>
              </a:ext>
            </a:extLst>
          </p:cNvPr>
          <p:cNvCxnSpPr>
            <a:cxnSpLocks/>
          </p:cNvCxnSpPr>
          <p:nvPr/>
        </p:nvCxnSpPr>
        <p:spPr>
          <a:xfrm>
            <a:off x="5171974" y="1392780"/>
            <a:ext cx="0" cy="48861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1" name="Straight Arrow Connector 20">
            <a:extLst>
              <a:ext uri="{FF2B5EF4-FFF2-40B4-BE49-F238E27FC236}">
                <a16:creationId xmlns:a16="http://schemas.microsoft.com/office/drawing/2014/main" id="{8E03FFCE-60C5-43F9-88E2-3A6F9E2160EE}"/>
              </a:ext>
            </a:extLst>
          </p:cNvPr>
          <p:cNvCxnSpPr>
            <a:cxnSpLocks/>
            <a:endCxn id="9" idx="0"/>
          </p:cNvCxnSpPr>
          <p:nvPr/>
        </p:nvCxnSpPr>
        <p:spPr>
          <a:xfrm flipH="1">
            <a:off x="3340199" y="4859759"/>
            <a:ext cx="1175654" cy="901931"/>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3" name="Straight Arrow Connector 22">
            <a:extLst>
              <a:ext uri="{FF2B5EF4-FFF2-40B4-BE49-F238E27FC236}">
                <a16:creationId xmlns:a16="http://schemas.microsoft.com/office/drawing/2014/main" id="{281E3599-0823-4060-9FC5-478C1C5F8175}"/>
              </a:ext>
            </a:extLst>
          </p:cNvPr>
          <p:cNvCxnSpPr>
            <a:cxnSpLocks/>
            <a:endCxn id="8" idx="0"/>
          </p:cNvCxnSpPr>
          <p:nvPr/>
        </p:nvCxnSpPr>
        <p:spPr>
          <a:xfrm>
            <a:off x="5669280" y="4947385"/>
            <a:ext cx="1273743" cy="810925"/>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0" name="TextBox 9">
            <a:extLst>
              <a:ext uri="{FF2B5EF4-FFF2-40B4-BE49-F238E27FC236}">
                <a16:creationId xmlns:a16="http://schemas.microsoft.com/office/drawing/2014/main" id="{5EDDB623-3804-4378-8C6C-ED0C56BD9F85}"/>
              </a:ext>
            </a:extLst>
          </p:cNvPr>
          <p:cNvSpPr txBox="1"/>
          <p:nvPr/>
        </p:nvSpPr>
        <p:spPr>
          <a:xfrm>
            <a:off x="6250004" y="5126058"/>
            <a:ext cx="1386037" cy="369332"/>
          </a:xfrm>
          <a:prstGeom prst="rect">
            <a:avLst/>
          </a:prstGeom>
          <a:noFill/>
        </p:spPr>
        <p:txBody>
          <a:bodyPr wrap="square" rtlCol="0">
            <a:spAutoFit/>
          </a:bodyPr>
          <a:lstStyle/>
          <a:p>
            <a:r>
              <a:rPr lang="en-US" dirty="0"/>
              <a:t>Download</a:t>
            </a:r>
          </a:p>
        </p:txBody>
      </p:sp>
      <p:sp>
        <p:nvSpPr>
          <p:cNvPr id="11" name="TextBox 10">
            <a:extLst>
              <a:ext uri="{FF2B5EF4-FFF2-40B4-BE49-F238E27FC236}">
                <a16:creationId xmlns:a16="http://schemas.microsoft.com/office/drawing/2014/main" id="{430A1119-88D8-47A9-8908-516D10D8058F}"/>
              </a:ext>
            </a:extLst>
          </p:cNvPr>
          <p:cNvSpPr txBox="1"/>
          <p:nvPr/>
        </p:nvSpPr>
        <p:spPr>
          <a:xfrm>
            <a:off x="2932497" y="5072545"/>
            <a:ext cx="1337912" cy="369332"/>
          </a:xfrm>
          <a:prstGeom prst="rect">
            <a:avLst/>
          </a:prstGeom>
          <a:noFill/>
        </p:spPr>
        <p:txBody>
          <a:bodyPr wrap="square" rtlCol="0">
            <a:spAutoFit/>
          </a:bodyPr>
          <a:lstStyle/>
          <a:p>
            <a:r>
              <a:rPr lang="en-US" dirty="0"/>
              <a:t>Visualize</a:t>
            </a:r>
          </a:p>
        </p:txBody>
      </p:sp>
      <p:pic>
        <p:nvPicPr>
          <p:cNvPr id="17" name="Picture 16">
            <a:extLst>
              <a:ext uri="{FF2B5EF4-FFF2-40B4-BE49-F238E27FC236}">
                <a16:creationId xmlns:a16="http://schemas.microsoft.com/office/drawing/2014/main" id="{D93B673D-0B54-4146-936D-FA9E5EAD0D54}"/>
              </a:ext>
            </a:extLst>
          </p:cNvPr>
          <p:cNvPicPr>
            <a:picLocks noChangeAspect="1"/>
          </p:cNvPicPr>
          <p:nvPr/>
        </p:nvPicPr>
        <p:blipFill>
          <a:blip r:embed="rId2"/>
          <a:stretch>
            <a:fillRect/>
          </a:stretch>
        </p:blipFill>
        <p:spPr>
          <a:xfrm>
            <a:off x="279132" y="168442"/>
            <a:ext cx="1636295" cy="506110"/>
          </a:xfrm>
          <a:prstGeom prst="rect">
            <a:avLst/>
          </a:prstGeom>
        </p:spPr>
      </p:pic>
    </p:spTree>
    <p:extLst>
      <p:ext uri="{BB962C8B-B14F-4D97-AF65-F5344CB8AC3E}">
        <p14:creationId xmlns:p14="http://schemas.microsoft.com/office/powerpoint/2010/main" val="193675454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AB64706-DFF7-4A1B-A95C-6E8C2BE11E57}"/>
              </a:ext>
            </a:extLst>
          </p:cNvPr>
          <p:cNvSpPr>
            <a:spLocks noGrp="1"/>
          </p:cNvSpPr>
          <p:nvPr>
            <p:ph type="title"/>
          </p:nvPr>
        </p:nvSpPr>
        <p:spPr>
          <a:xfrm>
            <a:off x="465688" y="248748"/>
            <a:ext cx="11029616" cy="567890"/>
          </a:xfrm>
        </p:spPr>
        <p:txBody>
          <a:bodyPr>
            <a:noAutofit/>
          </a:bodyPr>
          <a:lstStyle/>
          <a:p>
            <a:pPr algn="ctr"/>
            <a:r>
              <a:rPr lang="en-US" sz="3200" b="1" dirty="0">
                <a:latin typeface="Arial" panose="020B0604020202020204" pitchFamily="34" charset="0"/>
                <a:cs typeface="Arial" panose="020B0604020202020204" pitchFamily="34" charset="0"/>
              </a:rPr>
              <a:t>TOOLS AND TECHNOLOGIES </a:t>
            </a:r>
            <a:endParaRPr lang="en-US" sz="3200" b="1" dirty="0"/>
          </a:p>
        </p:txBody>
      </p:sp>
      <p:graphicFrame>
        <p:nvGraphicFramePr>
          <p:cNvPr id="5" name="Table 5">
            <a:extLst>
              <a:ext uri="{FF2B5EF4-FFF2-40B4-BE49-F238E27FC236}">
                <a16:creationId xmlns:a16="http://schemas.microsoft.com/office/drawing/2014/main" id="{090DED6D-A883-403F-A362-C3E0EE59AD3F}"/>
              </a:ext>
            </a:extLst>
          </p:cNvPr>
          <p:cNvGraphicFramePr>
            <a:graphicFrameLocks noGrp="1"/>
          </p:cNvGraphicFramePr>
          <p:nvPr>
            <p:extLst>
              <p:ext uri="{D42A27DB-BD31-4B8C-83A1-F6EECF244321}">
                <p14:modId xmlns:p14="http://schemas.microsoft.com/office/powerpoint/2010/main" val="4233772862"/>
              </p:ext>
            </p:extLst>
          </p:nvPr>
        </p:nvGraphicFramePr>
        <p:xfrm>
          <a:off x="1039527" y="1106905"/>
          <a:ext cx="9538636" cy="5399772"/>
        </p:xfrm>
        <a:graphic>
          <a:graphicData uri="http://schemas.openxmlformats.org/drawingml/2006/table">
            <a:tbl>
              <a:tblPr firstRow="1" bandRow="1">
                <a:tableStyleId>{073A0DAA-6AF3-43AB-8588-CEC1D06C72B9}</a:tableStyleId>
              </a:tblPr>
              <a:tblGrid>
                <a:gridCol w="2332177">
                  <a:extLst>
                    <a:ext uri="{9D8B030D-6E8A-4147-A177-3AD203B41FA5}">
                      <a16:colId xmlns:a16="http://schemas.microsoft.com/office/drawing/2014/main" val="577521546"/>
                    </a:ext>
                  </a:extLst>
                </a:gridCol>
                <a:gridCol w="2180293">
                  <a:extLst>
                    <a:ext uri="{9D8B030D-6E8A-4147-A177-3AD203B41FA5}">
                      <a16:colId xmlns:a16="http://schemas.microsoft.com/office/drawing/2014/main" val="70285938"/>
                    </a:ext>
                  </a:extLst>
                </a:gridCol>
                <a:gridCol w="5026166">
                  <a:extLst>
                    <a:ext uri="{9D8B030D-6E8A-4147-A177-3AD203B41FA5}">
                      <a16:colId xmlns:a16="http://schemas.microsoft.com/office/drawing/2014/main" val="3390586210"/>
                    </a:ext>
                  </a:extLst>
                </a:gridCol>
              </a:tblGrid>
              <a:tr h="771396">
                <a:tc>
                  <a:txBody>
                    <a:bodyPr/>
                    <a:lstStyle/>
                    <a:p>
                      <a:pPr algn="just"/>
                      <a:r>
                        <a:rPr lang="en-US" sz="2000" dirty="0">
                          <a:solidFill>
                            <a:schemeClr val="tx1"/>
                          </a:solidFill>
                          <a:latin typeface="Arial" panose="020B0604020202020204" pitchFamily="34" charset="0"/>
                          <a:cs typeface="Arial" panose="020B0604020202020204" pitchFamily="34" charset="0"/>
                        </a:rPr>
                        <a:t>Component</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just"/>
                      <a:r>
                        <a:rPr lang="en-US" sz="2000" dirty="0">
                          <a:solidFill>
                            <a:schemeClr val="tx1">
                              <a:lumMod val="95000"/>
                              <a:lumOff val="5000"/>
                            </a:schemeClr>
                          </a:solidFill>
                          <a:latin typeface="Arial" panose="020B0604020202020204" pitchFamily="34" charset="0"/>
                          <a:cs typeface="Arial" panose="020B0604020202020204" pitchFamily="34" charset="0"/>
                        </a:rPr>
                        <a:t>  Technology</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just"/>
                      <a:r>
                        <a:rPr lang="en-US" sz="2000" dirty="0">
                          <a:solidFill>
                            <a:schemeClr val="tx1"/>
                          </a:solidFill>
                          <a:latin typeface="Arial" panose="020B0604020202020204" pitchFamily="34" charset="0"/>
                          <a:cs typeface="Arial" panose="020B0604020202020204" pitchFamily="34" charset="0"/>
                        </a:rPr>
                        <a:t>Role in the Project</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070106367"/>
                  </a:ext>
                </a:extLst>
              </a:tr>
              <a:tr h="771396">
                <a:tc>
                  <a:txBody>
                    <a:bodyPr/>
                    <a:lstStyle/>
                    <a:p>
                      <a:pPr algn="just"/>
                      <a:r>
                        <a:rPr lang="en-US" sz="2000" dirty="0">
                          <a:latin typeface="Arial" panose="020B0604020202020204" pitchFamily="34" charset="0"/>
                          <a:cs typeface="Arial" panose="020B0604020202020204" pitchFamily="34" charset="0"/>
                        </a:rPr>
                        <a:t>Web Framework</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just"/>
                      <a:r>
                        <a:rPr lang="en-US" sz="2000" dirty="0">
                          <a:latin typeface="Arial" panose="020B0604020202020204" pitchFamily="34" charset="0"/>
                          <a:cs typeface="Arial" panose="020B0604020202020204" pitchFamily="34" charset="0"/>
                        </a:rPr>
                        <a:t>Flask</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just" fontAlgn="base" latinLnBrk="0"/>
                      <a:r>
                        <a:rPr lang="en-US" sz="2000" dirty="0">
                          <a:effectLst/>
                          <a:latin typeface="Arial" panose="020B0604020202020204" pitchFamily="34" charset="0"/>
                          <a:cs typeface="Arial" panose="020B0604020202020204" pitchFamily="34" charset="0"/>
                        </a:rPr>
                        <a:t>Main backend web server for routing, authentication, and UI logic</a:t>
                      </a:r>
                    </a:p>
                  </a:txBody>
                  <a:tcPr marL="50800" marR="508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644979384"/>
                  </a:ext>
                </a:extLst>
              </a:tr>
              <a:tr h="771396">
                <a:tc>
                  <a:txBody>
                    <a:bodyPr/>
                    <a:lstStyle/>
                    <a:p>
                      <a:pPr algn="just"/>
                      <a:r>
                        <a:rPr lang="en-US" sz="2000" b="0" i="0" kern="1200" dirty="0">
                          <a:solidFill>
                            <a:schemeClr val="dk1"/>
                          </a:solidFill>
                          <a:effectLst/>
                          <a:latin typeface="Arial" panose="020B0604020202020204" pitchFamily="34" charset="0"/>
                          <a:ea typeface="+mn-ea"/>
                          <a:cs typeface="Arial" panose="020B0604020202020204" pitchFamily="34" charset="0"/>
                        </a:rPr>
                        <a:t>Database</a:t>
                      </a:r>
                      <a:endParaRPr lang="en-US" sz="2000" dirty="0">
                        <a:latin typeface="Arial" panose="020B0604020202020204" pitchFamily="34" charset="0"/>
                        <a:cs typeface="Arial" panose="020B0604020202020204" pitchFamily="34"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just" fontAlgn="base" latinLnBrk="0"/>
                      <a:r>
                        <a:rPr lang="en-US" sz="2000" dirty="0">
                          <a:effectLst/>
                          <a:latin typeface="Arial" panose="020B0604020202020204" pitchFamily="34" charset="0"/>
                          <a:cs typeface="Arial" panose="020B0604020202020204" pitchFamily="34" charset="0"/>
                        </a:rPr>
                        <a:t>SQLite</a:t>
                      </a:r>
                    </a:p>
                  </a:txBody>
                  <a:tcPr marL="50800" marR="508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just"/>
                      <a:r>
                        <a:rPr lang="en-US" sz="2000" b="0" i="0" kern="1200" dirty="0">
                          <a:solidFill>
                            <a:schemeClr val="dk1"/>
                          </a:solidFill>
                          <a:effectLst/>
                          <a:latin typeface="Arial" panose="020B0604020202020204" pitchFamily="34" charset="0"/>
                          <a:ea typeface="+mn-ea"/>
                          <a:cs typeface="Arial" panose="020B0604020202020204" pitchFamily="34" charset="0"/>
                        </a:rPr>
                        <a:t>Secure storage of user credentials, roles, and sessions</a:t>
                      </a:r>
                      <a:endParaRPr lang="en-US" sz="2000" dirty="0">
                        <a:latin typeface="Arial" panose="020B0604020202020204" pitchFamily="34" charset="0"/>
                        <a:cs typeface="Arial" panose="020B0604020202020204" pitchFamily="34"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750758541"/>
                  </a:ext>
                </a:extLst>
              </a:tr>
              <a:tr h="771396">
                <a:tc>
                  <a:txBody>
                    <a:bodyPr/>
                    <a:lstStyle/>
                    <a:p>
                      <a:pPr algn="just"/>
                      <a:r>
                        <a:rPr lang="en-US" sz="2000" b="0" i="0" kern="1200" dirty="0">
                          <a:solidFill>
                            <a:schemeClr val="dk1"/>
                          </a:solidFill>
                          <a:effectLst/>
                          <a:latin typeface="Arial" panose="020B0604020202020204" pitchFamily="34" charset="0"/>
                          <a:ea typeface="+mn-ea"/>
                          <a:cs typeface="Arial" panose="020B0604020202020204" pitchFamily="34" charset="0"/>
                        </a:rPr>
                        <a:t>Authentication</a:t>
                      </a:r>
                      <a:endParaRPr lang="en-US" sz="2000" dirty="0">
                        <a:latin typeface="Arial" panose="020B0604020202020204" pitchFamily="34" charset="0"/>
                        <a:cs typeface="Arial" panose="020B0604020202020204" pitchFamily="34"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just"/>
                      <a:r>
                        <a:rPr lang="en-US" sz="2000" b="0" i="0" kern="1200" dirty="0">
                          <a:solidFill>
                            <a:schemeClr val="dk1"/>
                          </a:solidFill>
                          <a:effectLst/>
                          <a:latin typeface="Arial" panose="020B0604020202020204" pitchFamily="34" charset="0"/>
                          <a:ea typeface="+mn-ea"/>
                          <a:cs typeface="Arial" panose="020B0604020202020204" pitchFamily="34" charset="0"/>
                        </a:rPr>
                        <a:t>JWT (</a:t>
                      </a:r>
                      <a:r>
                        <a:rPr lang="en-US" sz="2000" b="0" i="0" kern="1200" dirty="0" err="1">
                          <a:solidFill>
                            <a:schemeClr val="dk1"/>
                          </a:solidFill>
                          <a:effectLst/>
                          <a:latin typeface="Arial" panose="020B0604020202020204" pitchFamily="34" charset="0"/>
                          <a:ea typeface="+mn-ea"/>
                          <a:cs typeface="Arial" panose="020B0604020202020204" pitchFamily="34" charset="0"/>
                        </a:rPr>
                        <a:t>PyJWT</a:t>
                      </a:r>
                      <a:r>
                        <a:rPr lang="en-US" sz="2000" b="0" i="0" kern="1200" dirty="0">
                          <a:solidFill>
                            <a:schemeClr val="dk1"/>
                          </a:solidFill>
                          <a:effectLst/>
                          <a:latin typeface="Arial" panose="020B0604020202020204" pitchFamily="34" charset="0"/>
                          <a:ea typeface="+mn-ea"/>
                          <a:cs typeface="Arial" panose="020B0604020202020204" pitchFamily="34" charset="0"/>
                        </a:rPr>
                        <a:t>)</a:t>
                      </a:r>
                      <a:endParaRPr lang="en-US" sz="2000" dirty="0">
                        <a:solidFill>
                          <a:schemeClr val="bg1"/>
                        </a:solidFill>
                        <a:latin typeface="Arial" panose="020B0604020202020204" pitchFamily="34" charset="0"/>
                        <a:cs typeface="Arial" panose="020B0604020202020204" pitchFamily="34"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just"/>
                      <a:r>
                        <a:rPr lang="en-US" sz="2000" b="0" i="0" kern="1200" dirty="0">
                          <a:solidFill>
                            <a:schemeClr val="dk1"/>
                          </a:solidFill>
                          <a:effectLst/>
                          <a:latin typeface="Arial" panose="020B0604020202020204" pitchFamily="34" charset="0"/>
                          <a:ea typeface="+mn-ea"/>
                          <a:cs typeface="Arial" panose="020B0604020202020204" pitchFamily="34" charset="0"/>
                        </a:rPr>
                        <a:t>User authentication; role-based access; secure session management</a:t>
                      </a:r>
                      <a:endParaRPr lang="en-US" sz="2000" dirty="0">
                        <a:latin typeface="Arial" panose="020B0604020202020204" pitchFamily="34" charset="0"/>
                        <a:cs typeface="Arial" panose="020B0604020202020204" pitchFamily="34"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58850367"/>
                  </a:ext>
                </a:extLst>
              </a:tr>
              <a:tr h="771396">
                <a:tc>
                  <a:txBody>
                    <a:bodyPr/>
                    <a:lstStyle/>
                    <a:p>
                      <a:pPr algn="just"/>
                      <a:r>
                        <a:rPr lang="en-US" sz="2000" b="0" i="0" kern="1200" dirty="0">
                          <a:solidFill>
                            <a:schemeClr val="dk1"/>
                          </a:solidFill>
                          <a:effectLst/>
                          <a:latin typeface="Arial" panose="020B0604020202020204" pitchFamily="34" charset="0"/>
                          <a:ea typeface="+mn-ea"/>
                          <a:cs typeface="Arial" panose="020B0604020202020204" pitchFamily="34" charset="0"/>
                        </a:rPr>
                        <a:t>Object Detection</a:t>
                      </a:r>
                      <a:endParaRPr lang="en-US" sz="2000" dirty="0">
                        <a:latin typeface="Arial" panose="020B0604020202020204" pitchFamily="34" charset="0"/>
                        <a:cs typeface="Arial" panose="020B0604020202020204" pitchFamily="34"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just"/>
                      <a:r>
                        <a:rPr lang="en-US" sz="2000" b="0" i="0" kern="1200" dirty="0">
                          <a:solidFill>
                            <a:schemeClr val="dk1"/>
                          </a:solidFill>
                          <a:effectLst/>
                          <a:latin typeface="Arial" panose="020B0604020202020204" pitchFamily="34" charset="0"/>
                          <a:ea typeface="+mn-ea"/>
                          <a:cs typeface="Arial" panose="020B0604020202020204" pitchFamily="34" charset="0"/>
                        </a:rPr>
                        <a:t>YOLOv8 (</a:t>
                      </a:r>
                      <a:r>
                        <a:rPr lang="en-US" sz="2000" b="0" i="0" kern="1200" dirty="0" err="1">
                          <a:solidFill>
                            <a:schemeClr val="dk1"/>
                          </a:solidFill>
                          <a:effectLst/>
                          <a:latin typeface="Arial" panose="020B0604020202020204" pitchFamily="34" charset="0"/>
                          <a:ea typeface="+mn-ea"/>
                          <a:cs typeface="Arial" panose="020B0604020202020204" pitchFamily="34" charset="0"/>
                        </a:rPr>
                        <a:t>Ultralytics</a:t>
                      </a:r>
                      <a:r>
                        <a:rPr lang="en-US" sz="2000" b="0" i="0" kern="1200" dirty="0">
                          <a:solidFill>
                            <a:schemeClr val="dk1"/>
                          </a:solidFill>
                          <a:effectLst/>
                          <a:latin typeface="Arial" panose="020B0604020202020204" pitchFamily="34" charset="0"/>
                          <a:ea typeface="+mn-ea"/>
                          <a:cs typeface="Arial" panose="020B0604020202020204" pitchFamily="34" charset="0"/>
                        </a:rPr>
                        <a:t>)</a:t>
                      </a:r>
                      <a:endParaRPr lang="en-US" sz="2000" dirty="0">
                        <a:latin typeface="Arial" panose="020B0604020202020204" pitchFamily="34" charset="0"/>
                        <a:cs typeface="Arial" panose="020B0604020202020204" pitchFamily="34"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just"/>
                      <a:r>
                        <a:rPr lang="en-US" sz="2000" b="0" i="0" kern="1200" dirty="0">
                          <a:solidFill>
                            <a:schemeClr val="dk1"/>
                          </a:solidFill>
                          <a:effectLst/>
                          <a:latin typeface="Arial" panose="020B0604020202020204" pitchFamily="34" charset="0"/>
                          <a:ea typeface="+mn-ea"/>
                          <a:cs typeface="Arial" panose="020B0604020202020204" pitchFamily="34" charset="0"/>
                        </a:rPr>
                        <a:t>The Deep Learning Model used to Detects people in video and image frames</a:t>
                      </a:r>
                      <a:endParaRPr lang="en-US" sz="2000" dirty="0">
                        <a:latin typeface="Arial" panose="020B0604020202020204" pitchFamily="34" charset="0"/>
                        <a:cs typeface="Arial" panose="020B0604020202020204" pitchFamily="34"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87523491"/>
                  </a:ext>
                </a:extLst>
              </a:tr>
              <a:tr h="771396">
                <a:tc>
                  <a:txBody>
                    <a:bodyPr/>
                    <a:lstStyle/>
                    <a:p>
                      <a:pPr algn="just"/>
                      <a:r>
                        <a:rPr lang="en-US" sz="2000" b="0" i="0" kern="1200" dirty="0">
                          <a:solidFill>
                            <a:schemeClr val="dk1"/>
                          </a:solidFill>
                          <a:effectLst/>
                          <a:latin typeface="Arial" panose="020B0604020202020204" pitchFamily="34" charset="0"/>
                          <a:ea typeface="+mn-ea"/>
                          <a:cs typeface="Arial" panose="020B0604020202020204" pitchFamily="34" charset="0"/>
                        </a:rPr>
                        <a:t>Object Tracking</a:t>
                      </a:r>
                      <a:endParaRPr lang="en-US" sz="2000" dirty="0">
                        <a:latin typeface="Arial" panose="020B0604020202020204" pitchFamily="34" charset="0"/>
                        <a:cs typeface="Arial" panose="020B0604020202020204" pitchFamily="34"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just"/>
                      <a:r>
                        <a:rPr lang="en-US" sz="2000" b="0" i="0" kern="1200" dirty="0" err="1">
                          <a:solidFill>
                            <a:schemeClr val="dk1"/>
                          </a:solidFill>
                          <a:effectLst/>
                          <a:latin typeface="Arial" panose="020B0604020202020204" pitchFamily="34" charset="0"/>
                          <a:ea typeface="+mn-ea"/>
                          <a:cs typeface="Arial" panose="020B0604020202020204" pitchFamily="34" charset="0"/>
                        </a:rPr>
                        <a:t>ByteTrack</a:t>
                      </a:r>
                      <a:endParaRPr lang="en-US" sz="2000" dirty="0">
                        <a:latin typeface="Arial" panose="020B0604020202020204" pitchFamily="34" charset="0"/>
                        <a:cs typeface="Arial" panose="020B0604020202020204" pitchFamily="34"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just"/>
                      <a:r>
                        <a:rPr lang="en-US" sz="2000" b="0" i="0" kern="1200" dirty="0">
                          <a:solidFill>
                            <a:schemeClr val="dk1"/>
                          </a:solidFill>
                          <a:effectLst/>
                          <a:latin typeface="Arial" panose="020B0604020202020204" pitchFamily="34" charset="0"/>
                          <a:ea typeface="+mn-ea"/>
                          <a:cs typeface="Arial" panose="020B0604020202020204" pitchFamily="34" charset="0"/>
                        </a:rPr>
                        <a:t>Tracks detected people across frames for consistent zone counting</a:t>
                      </a:r>
                      <a:endParaRPr lang="en-US" sz="2000" dirty="0">
                        <a:latin typeface="Arial" panose="020B0604020202020204" pitchFamily="34" charset="0"/>
                        <a:cs typeface="Arial" panose="020B0604020202020204" pitchFamily="34"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01116680"/>
                  </a:ext>
                </a:extLst>
              </a:tr>
              <a:tr h="771396">
                <a:tc>
                  <a:txBody>
                    <a:bodyPr/>
                    <a:lstStyle/>
                    <a:p>
                      <a:pPr algn="just"/>
                      <a:r>
                        <a:rPr lang="en-US" sz="2000" b="0" i="0" kern="1200" dirty="0">
                          <a:solidFill>
                            <a:schemeClr val="dk1"/>
                          </a:solidFill>
                          <a:effectLst/>
                          <a:latin typeface="Arial" panose="020B0604020202020204" pitchFamily="34" charset="0"/>
                          <a:ea typeface="+mn-ea"/>
                          <a:cs typeface="Arial" panose="020B0604020202020204" pitchFamily="34" charset="0"/>
                        </a:rPr>
                        <a:t>Video/Image Input Processing</a:t>
                      </a:r>
                      <a:endParaRPr lang="en-US" sz="2000" dirty="0">
                        <a:latin typeface="Arial" panose="020B0604020202020204" pitchFamily="34" charset="0"/>
                        <a:cs typeface="Arial" panose="020B0604020202020204" pitchFamily="34"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just"/>
                      <a:r>
                        <a:rPr lang="en-US" sz="2000" b="0" i="0" kern="1200" dirty="0">
                          <a:solidFill>
                            <a:schemeClr val="dk1"/>
                          </a:solidFill>
                          <a:effectLst/>
                          <a:latin typeface="Arial" panose="020B0604020202020204" pitchFamily="34" charset="0"/>
                          <a:ea typeface="+mn-ea"/>
                          <a:cs typeface="Arial" panose="020B0604020202020204" pitchFamily="34" charset="0"/>
                        </a:rPr>
                        <a:t>OpenCV (cv2)</a:t>
                      </a:r>
                      <a:endParaRPr lang="en-US" sz="2000" dirty="0">
                        <a:latin typeface="Arial" panose="020B0604020202020204" pitchFamily="34" charset="0"/>
                        <a:cs typeface="Arial" panose="020B0604020202020204" pitchFamily="34"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just" fontAlgn="base" latinLnBrk="0"/>
                      <a:r>
                        <a:rPr lang="en-US" sz="2000" dirty="0">
                          <a:effectLst/>
                          <a:latin typeface="Arial" panose="020B0604020202020204" pitchFamily="34" charset="0"/>
                          <a:cs typeface="Arial" panose="020B0604020202020204" pitchFamily="34" charset="0"/>
                        </a:rPr>
                        <a:t>Reads video/image files, processes frames, draws bounding boxes</a:t>
                      </a:r>
                    </a:p>
                  </a:txBody>
                  <a:tcPr marL="50800" marR="508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175239678"/>
                  </a:ext>
                </a:extLst>
              </a:tr>
            </a:tbl>
          </a:graphicData>
        </a:graphic>
      </p:graphicFrame>
      <p:pic>
        <p:nvPicPr>
          <p:cNvPr id="4" name="Picture 3">
            <a:extLst>
              <a:ext uri="{FF2B5EF4-FFF2-40B4-BE49-F238E27FC236}">
                <a16:creationId xmlns:a16="http://schemas.microsoft.com/office/drawing/2014/main" id="{9A95EEE9-AB3B-47F6-800C-F49B98E05333}"/>
              </a:ext>
            </a:extLst>
          </p:cNvPr>
          <p:cNvPicPr>
            <a:picLocks noChangeAspect="1"/>
          </p:cNvPicPr>
          <p:nvPr/>
        </p:nvPicPr>
        <p:blipFill>
          <a:blip r:embed="rId2"/>
          <a:stretch>
            <a:fillRect/>
          </a:stretch>
        </p:blipFill>
        <p:spPr>
          <a:xfrm>
            <a:off x="279132" y="168442"/>
            <a:ext cx="1636295" cy="506110"/>
          </a:xfrm>
          <a:prstGeom prst="rect">
            <a:avLst/>
          </a:prstGeom>
        </p:spPr>
      </p:pic>
    </p:spTree>
    <p:extLst>
      <p:ext uri="{BB962C8B-B14F-4D97-AF65-F5344CB8AC3E}">
        <p14:creationId xmlns:p14="http://schemas.microsoft.com/office/powerpoint/2010/main" val="360195127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Table 5">
            <a:extLst>
              <a:ext uri="{FF2B5EF4-FFF2-40B4-BE49-F238E27FC236}">
                <a16:creationId xmlns:a16="http://schemas.microsoft.com/office/drawing/2014/main" id="{61FC788F-0604-4548-93A8-0F522DFD08DB}"/>
              </a:ext>
            </a:extLst>
          </p:cNvPr>
          <p:cNvGraphicFramePr>
            <a:graphicFrameLocks noGrp="1"/>
          </p:cNvGraphicFramePr>
          <p:nvPr>
            <p:extLst>
              <p:ext uri="{D42A27DB-BD31-4B8C-83A1-F6EECF244321}">
                <p14:modId xmlns:p14="http://schemas.microsoft.com/office/powerpoint/2010/main" val="4077581047"/>
              </p:ext>
            </p:extLst>
          </p:nvPr>
        </p:nvGraphicFramePr>
        <p:xfrm>
          <a:off x="1011721" y="856647"/>
          <a:ext cx="8940802" cy="5102546"/>
        </p:xfrm>
        <a:graphic>
          <a:graphicData uri="http://schemas.openxmlformats.org/drawingml/2006/table">
            <a:tbl>
              <a:tblPr firstRow="1" bandRow="1">
                <a:tableStyleId>{5C22544A-7EE6-4342-B048-85BDC9FD1C3A}</a:tableStyleId>
              </a:tblPr>
              <a:tblGrid>
                <a:gridCol w="2388304">
                  <a:extLst>
                    <a:ext uri="{9D8B030D-6E8A-4147-A177-3AD203B41FA5}">
                      <a16:colId xmlns:a16="http://schemas.microsoft.com/office/drawing/2014/main" val="2815717966"/>
                    </a:ext>
                  </a:extLst>
                </a:gridCol>
                <a:gridCol w="2253553">
                  <a:extLst>
                    <a:ext uri="{9D8B030D-6E8A-4147-A177-3AD203B41FA5}">
                      <a16:colId xmlns:a16="http://schemas.microsoft.com/office/drawing/2014/main" val="2265541651"/>
                    </a:ext>
                  </a:extLst>
                </a:gridCol>
                <a:gridCol w="4298945">
                  <a:extLst>
                    <a:ext uri="{9D8B030D-6E8A-4147-A177-3AD203B41FA5}">
                      <a16:colId xmlns:a16="http://schemas.microsoft.com/office/drawing/2014/main" val="4190530856"/>
                    </a:ext>
                  </a:extLst>
                </a:gridCol>
              </a:tblGrid>
              <a:tr h="655474">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sz="2000" dirty="0">
                          <a:solidFill>
                            <a:schemeClr val="tx1"/>
                          </a:solidFill>
                          <a:latin typeface="Arial" panose="020B0604020202020204" pitchFamily="34" charset="0"/>
                          <a:cs typeface="Arial" panose="020B0604020202020204" pitchFamily="34" charset="0"/>
                        </a:rPr>
                        <a:t>Component</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2000" dirty="0">
                          <a:solidFill>
                            <a:schemeClr val="tx1">
                              <a:lumMod val="95000"/>
                              <a:lumOff val="5000"/>
                            </a:schemeClr>
                          </a:solidFill>
                          <a:latin typeface="Arial" panose="020B0604020202020204" pitchFamily="34" charset="0"/>
                          <a:cs typeface="Arial" panose="020B0604020202020204" pitchFamily="34" charset="0"/>
                        </a:rPr>
                        <a:t> Technology</a:t>
                      </a:r>
                      <a:endParaRPr lang="en-US" sz="2000" dirty="0">
                        <a:latin typeface="Arial" panose="020B0604020202020204" pitchFamily="34" charset="0"/>
                        <a:cs typeface="Arial" panose="020B0604020202020204" pitchFamily="34"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sz="2000" dirty="0">
                          <a:solidFill>
                            <a:schemeClr val="tx1"/>
                          </a:solidFill>
                          <a:latin typeface="Arial" panose="020B0604020202020204" pitchFamily="34" charset="0"/>
                          <a:cs typeface="Arial" panose="020B0604020202020204" pitchFamily="34" charset="0"/>
                        </a:rPr>
                        <a:t>Role in the Project</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415262450"/>
                  </a:ext>
                </a:extLst>
              </a:tr>
              <a:tr h="860308">
                <a:tc>
                  <a:txBody>
                    <a:bodyPr/>
                    <a:lstStyle/>
                    <a:p>
                      <a:r>
                        <a:rPr lang="en-US" sz="2000" b="0" i="0" kern="1200" dirty="0">
                          <a:solidFill>
                            <a:schemeClr val="dk1"/>
                          </a:solidFill>
                          <a:effectLst/>
                          <a:latin typeface="Arial" panose="020B0604020202020204" pitchFamily="34" charset="0"/>
                          <a:ea typeface="+mn-ea"/>
                          <a:cs typeface="Arial" panose="020B0604020202020204" pitchFamily="34" charset="0"/>
                        </a:rPr>
                        <a:t>Data Visualization</a:t>
                      </a:r>
                      <a:endParaRPr lang="en-US" sz="2000" dirty="0">
                        <a:latin typeface="Arial" panose="020B0604020202020204" pitchFamily="34" charset="0"/>
                        <a:cs typeface="Arial" panose="020B0604020202020204" pitchFamily="34"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2000" b="0" i="0" kern="1200" dirty="0">
                          <a:solidFill>
                            <a:schemeClr val="dk1"/>
                          </a:solidFill>
                          <a:effectLst/>
                          <a:latin typeface="Arial" panose="020B0604020202020204" pitchFamily="34" charset="0"/>
                          <a:ea typeface="+mn-ea"/>
                          <a:cs typeface="Arial" panose="020B0604020202020204" pitchFamily="34" charset="0"/>
                        </a:rPr>
                        <a:t>Matplotlib, Pandas</a:t>
                      </a:r>
                      <a:endParaRPr lang="en-US" sz="2000" dirty="0">
                        <a:latin typeface="Arial" panose="020B0604020202020204" pitchFamily="34" charset="0"/>
                        <a:cs typeface="Arial" panose="020B0604020202020204" pitchFamily="34"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2000" b="0" i="0" kern="1200" dirty="0">
                          <a:solidFill>
                            <a:schemeClr val="dk1"/>
                          </a:solidFill>
                          <a:effectLst/>
                          <a:latin typeface="Arial" panose="020B0604020202020204" pitchFamily="34" charset="0"/>
                          <a:ea typeface="+mn-ea"/>
                          <a:cs typeface="Arial" panose="020B0604020202020204" pitchFamily="34" charset="0"/>
                        </a:rPr>
                        <a:t>Generates charts, graphs, heatmaps, and CSV reports</a:t>
                      </a:r>
                      <a:endParaRPr lang="en-US" sz="2000" dirty="0">
                        <a:latin typeface="Arial" panose="020B0604020202020204" pitchFamily="34" charset="0"/>
                        <a:cs typeface="Arial" panose="020B0604020202020204" pitchFamily="34"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9007283"/>
                  </a:ext>
                </a:extLst>
              </a:tr>
              <a:tr h="860308">
                <a:tc>
                  <a:txBody>
                    <a:bodyPr/>
                    <a:lstStyle/>
                    <a:p>
                      <a:r>
                        <a:rPr lang="en-US" sz="2000" b="0" i="0" kern="1200" dirty="0">
                          <a:solidFill>
                            <a:schemeClr val="dk1"/>
                          </a:solidFill>
                          <a:effectLst/>
                          <a:latin typeface="Arial" panose="020B0604020202020204" pitchFamily="34" charset="0"/>
                          <a:ea typeface="+mn-ea"/>
                          <a:cs typeface="Arial" panose="020B0604020202020204" pitchFamily="34" charset="0"/>
                        </a:rPr>
                        <a:t>Front-End</a:t>
                      </a:r>
                      <a:endParaRPr lang="en-US" sz="2000" dirty="0">
                        <a:latin typeface="Arial" panose="020B0604020202020204" pitchFamily="34" charset="0"/>
                        <a:cs typeface="Arial" panose="020B0604020202020204" pitchFamily="34"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2000" b="0" i="0" kern="1200" dirty="0">
                          <a:solidFill>
                            <a:schemeClr val="dk1"/>
                          </a:solidFill>
                          <a:effectLst/>
                          <a:latin typeface="Arial" panose="020B0604020202020204" pitchFamily="34" charset="0"/>
                          <a:ea typeface="+mn-ea"/>
                          <a:cs typeface="Arial" panose="020B0604020202020204" pitchFamily="34" charset="0"/>
                        </a:rPr>
                        <a:t>HTML, CSS, </a:t>
                      </a:r>
                      <a:r>
                        <a:rPr lang="en-US" sz="2000" b="0" i="0" kern="1200" dirty="0" err="1">
                          <a:solidFill>
                            <a:schemeClr val="dk1"/>
                          </a:solidFill>
                          <a:effectLst/>
                          <a:latin typeface="Arial" panose="020B0604020202020204" pitchFamily="34" charset="0"/>
                          <a:ea typeface="+mn-ea"/>
                          <a:cs typeface="Arial" panose="020B0604020202020204" pitchFamily="34" charset="0"/>
                        </a:rPr>
                        <a:t>javascript</a:t>
                      </a:r>
                      <a:endParaRPr lang="en-US" sz="2000" dirty="0">
                        <a:latin typeface="Arial" panose="020B0604020202020204" pitchFamily="34" charset="0"/>
                        <a:cs typeface="Arial" panose="020B0604020202020204" pitchFamily="34"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2000" dirty="0">
                          <a:latin typeface="Arial" panose="020B0604020202020204" pitchFamily="34" charset="0"/>
                          <a:cs typeface="Arial" panose="020B0604020202020204" pitchFamily="34" charset="0"/>
                        </a:rPr>
                        <a:t>Provide structure and styling for web pages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743832888"/>
                  </a:ext>
                </a:extLst>
              </a:tr>
              <a:tr h="860308">
                <a:tc>
                  <a:txBody>
                    <a:bodyPr/>
                    <a:lstStyle/>
                    <a:p>
                      <a:r>
                        <a:rPr lang="en-US" sz="2000" b="0" i="0" kern="1200" dirty="0">
                          <a:solidFill>
                            <a:schemeClr val="dk1"/>
                          </a:solidFill>
                          <a:effectLst/>
                          <a:latin typeface="Arial" panose="020B0604020202020204" pitchFamily="34" charset="0"/>
                          <a:ea typeface="+mn-ea"/>
                          <a:cs typeface="Arial" panose="020B0604020202020204" pitchFamily="34" charset="0"/>
                        </a:rPr>
                        <a:t>Real-Time Video Streaming</a:t>
                      </a:r>
                      <a:endParaRPr lang="en-US" sz="2000" dirty="0">
                        <a:latin typeface="Arial" panose="020B0604020202020204" pitchFamily="34" charset="0"/>
                        <a:cs typeface="Arial" panose="020B0604020202020204" pitchFamily="34"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2000" b="0" i="0" kern="1200" dirty="0">
                          <a:solidFill>
                            <a:schemeClr val="dk1"/>
                          </a:solidFill>
                          <a:effectLst/>
                          <a:latin typeface="Arial" panose="020B0604020202020204" pitchFamily="34" charset="0"/>
                          <a:ea typeface="+mn-ea"/>
                          <a:cs typeface="Arial" panose="020B0604020202020204" pitchFamily="34" charset="0"/>
                        </a:rPr>
                        <a:t>OpenCV, Flask (Response)</a:t>
                      </a:r>
                      <a:endParaRPr lang="en-US" sz="2000" dirty="0">
                        <a:latin typeface="Arial" panose="020B0604020202020204" pitchFamily="34" charset="0"/>
                        <a:cs typeface="Arial" panose="020B0604020202020204" pitchFamily="34"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2000" b="0" i="0" kern="1200" dirty="0">
                          <a:solidFill>
                            <a:schemeClr val="dk1"/>
                          </a:solidFill>
                          <a:effectLst/>
                          <a:latin typeface="Arial" panose="020B0604020202020204" pitchFamily="34" charset="0"/>
                          <a:ea typeface="+mn-ea"/>
                          <a:cs typeface="Arial" panose="020B0604020202020204" pitchFamily="34" charset="0"/>
                        </a:rPr>
                        <a:t>Provides live object detection video streams in the browser</a:t>
                      </a:r>
                      <a:endParaRPr lang="en-US" sz="2000" dirty="0">
                        <a:latin typeface="Arial" panose="020B0604020202020204" pitchFamily="34" charset="0"/>
                        <a:cs typeface="Arial" panose="020B0604020202020204" pitchFamily="34"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742205048"/>
                  </a:ext>
                </a:extLst>
              </a:tr>
              <a:tr h="860308">
                <a:tc>
                  <a:txBody>
                    <a:bodyPr/>
                    <a:lstStyle/>
                    <a:p>
                      <a:r>
                        <a:rPr lang="en-US" sz="2000" b="0" i="0" kern="1200" dirty="0">
                          <a:solidFill>
                            <a:schemeClr val="dk1"/>
                          </a:solidFill>
                          <a:effectLst/>
                          <a:latin typeface="Arial" panose="020B0604020202020204" pitchFamily="34" charset="0"/>
                          <a:ea typeface="+mn-ea"/>
                          <a:cs typeface="Arial" panose="020B0604020202020204" pitchFamily="34" charset="0"/>
                        </a:rPr>
                        <a:t>Live &amp; Historic Analytics</a:t>
                      </a:r>
                      <a:endParaRPr lang="en-US" sz="2000" dirty="0">
                        <a:latin typeface="Arial" panose="020B0604020202020204" pitchFamily="34" charset="0"/>
                        <a:cs typeface="Arial" panose="020B0604020202020204" pitchFamily="34"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fontAlgn="base" latinLnBrk="0"/>
                      <a:r>
                        <a:rPr lang="en-US" sz="2000" dirty="0">
                          <a:effectLst/>
                          <a:latin typeface="Arial" panose="020B0604020202020204" pitchFamily="34" charset="0"/>
                          <a:cs typeface="Arial" panose="020B0604020202020204" pitchFamily="34" charset="0"/>
                        </a:rPr>
                        <a:t> Python + Visualization</a:t>
                      </a:r>
                    </a:p>
                  </a:txBody>
                  <a:tcPr marL="50800" marR="508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2000" b="0" i="0" kern="1200" dirty="0">
                          <a:solidFill>
                            <a:schemeClr val="dk1"/>
                          </a:solidFill>
                          <a:effectLst/>
                          <a:latin typeface="Arial" panose="020B0604020202020204" pitchFamily="34" charset="0"/>
                          <a:ea typeface="+mn-ea"/>
                          <a:cs typeface="Arial" panose="020B0604020202020204" pitchFamily="34" charset="0"/>
                        </a:rPr>
                        <a:t>Enables live zone counts, population trends, and report downloads</a:t>
                      </a:r>
                      <a:endParaRPr lang="en-US" sz="2000" dirty="0">
                        <a:latin typeface="Arial" panose="020B0604020202020204" pitchFamily="34" charset="0"/>
                        <a:cs typeface="Arial" panose="020B0604020202020204" pitchFamily="34"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349813838"/>
                  </a:ext>
                </a:extLst>
              </a:tr>
              <a:tr h="860308">
                <a:tc>
                  <a:txBody>
                    <a:bodyPr/>
                    <a:lstStyle/>
                    <a:p>
                      <a:r>
                        <a:rPr lang="en-US" sz="2000" b="0" i="0" kern="1200" dirty="0">
                          <a:solidFill>
                            <a:schemeClr val="dk1"/>
                          </a:solidFill>
                          <a:effectLst/>
                          <a:latin typeface="Arial" panose="020B0604020202020204" pitchFamily="34" charset="0"/>
                          <a:ea typeface="+mn-ea"/>
                          <a:cs typeface="Arial" panose="020B0604020202020204" pitchFamily="34" charset="0"/>
                        </a:rPr>
                        <a:t>User Management</a:t>
                      </a:r>
                      <a:endParaRPr lang="en-US" sz="2000" dirty="0">
                        <a:latin typeface="Arial" panose="020B0604020202020204" pitchFamily="34" charset="0"/>
                        <a:cs typeface="Arial" panose="020B0604020202020204" pitchFamily="34"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fontAlgn="base" latinLnBrk="0"/>
                      <a:r>
                        <a:rPr lang="en-US" sz="2000" dirty="0">
                          <a:effectLst/>
                          <a:latin typeface="Arial" panose="020B0604020202020204" pitchFamily="34" charset="0"/>
                          <a:cs typeface="Arial" panose="020B0604020202020204" pitchFamily="34" charset="0"/>
                        </a:rPr>
                        <a:t>Flask, SQLite</a:t>
                      </a:r>
                    </a:p>
                  </a:txBody>
                  <a:tcPr marL="50800" marR="508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2000" b="0" i="0" kern="1200" dirty="0">
                          <a:solidFill>
                            <a:schemeClr val="dk1"/>
                          </a:solidFill>
                          <a:effectLst/>
                          <a:latin typeface="Arial" panose="020B0604020202020204" pitchFamily="34" charset="0"/>
                          <a:ea typeface="+mn-ea"/>
                          <a:cs typeface="Arial" panose="020B0604020202020204" pitchFamily="34" charset="0"/>
                        </a:rPr>
                        <a:t>Registration, login, user-role checks, and admin features</a:t>
                      </a:r>
                      <a:endParaRPr lang="en-US" sz="2000" dirty="0">
                        <a:latin typeface="Arial" panose="020B0604020202020204" pitchFamily="34" charset="0"/>
                        <a:cs typeface="Arial" panose="020B0604020202020204" pitchFamily="34"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961481730"/>
                  </a:ext>
                </a:extLst>
              </a:tr>
            </a:tbl>
          </a:graphicData>
        </a:graphic>
      </p:graphicFrame>
      <p:pic>
        <p:nvPicPr>
          <p:cNvPr id="3" name="Picture 2">
            <a:extLst>
              <a:ext uri="{FF2B5EF4-FFF2-40B4-BE49-F238E27FC236}">
                <a16:creationId xmlns:a16="http://schemas.microsoft.com/office/drawing/2014/main" id="{8B516898-4F12-4030-8087-262AE792B756}"/>
              </a:ext>
            </a:extLst>
          </p:cNvPr>
          <p:cNvPicPr>
            <a:picLocks noChangeAspect="1"/>
          </p:cNvPicPr>
          <p:nvPr/>
        </p:nvPicPr>
        <p:blipFill>
          <a:blip r:embed="rId2"/>
          <a:stretch>
            <a:fillRect/>
          </a:stretch>
        </p:blipFill>
        <p:spPr>
          <a:xfrm>
            <a:off x="279132" y="168442"/>
            <a:ext cx="1636295" cy="506110"/>
          </a:xfrm>
          <a:prstGeom prst="rect">
            <a:avLst/>
          </a:prstGeom>
        </p:spPr>
      </p:pic>
    </p:spTree>
    <p:extLst>
      <p:ext uri="{BB962C8B-B14F-4D97-AF65-F5344CB8AC3E}">
        <p14:creationId xmlns:p14="http://schemas.microsoft.com/office/powerpoint/2010/main" val="5137881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D9132D7-144D-47F6-A75C-E6BDC861AE03}"/>
              </a:ext>
            </a:extLst>
          </p:cNvPr>
          <p:cNvSpPr>
            <a:spLocks noGrp="1"/>
          </p:cNvSpPr>
          <p:nvPr>
            <p:ph type="title"/>
          </p:nvPr>
        </p:nvSpPr>
        <p:spPr>
          <a:xfrm>
            <a:off x="423356" y="255069"/>
            <a:ext cx="11029616" cy="562590"/>
          </a:xfrm>
        </p:spPr>
        <p:txBody>
          <a:bodyPr>
            <a:noAutofit/>
          </a:bodyPr>
          <a:lstStyle/>
          <a:p>
            <a:pPr algn="ctr"/>
            <a:r>
              <a:rPr lang="en-US" sz="3200" b="1" dirty="0">
                <a:latin typeface="Arial" panose="020B0604020202020204" pitchFamily="34" charset="0"/>
                <a:cs typeface="Arial" panose="020B0604020202020204" pitchFamily="34" charset="0"/>
              </a:rPr>
              <a:t>RESULTS</a:t>
            </a:r>
            <a:endParaRPr lang="en-US" sz="3200" b="1" dirty="0"/>
          </a:p>
        </p:txBody>
      </p:sp>
      <p:pic>
        <p:nvPicPr>
          <p:cNvPr id="9" name="Content Placeholder 8">
            <a:extLst>
              <a:ext uri="{FF2B5EF4-FFF2-40B4-BE49-F238E27FC236}">
                <a16:creationId xmlns:a16="http://schemas.microsoft.com/office/drawing/2014/main" id="{8BA6D673-0E53-4EB8-9A4E-D1331E22E639}"/>
              </a:ext>
            </a:extLst>
          </p:cNvPr>
          <p:cNvPicPr>
            <a:picLocks noGrp="1" noChangeAspect="1"/>
          </p:cNvPicPr>
          <p:nvPr>
            <p:ph idx="1"/>
          </p:nvPr>
        </p:nvPicPr>
        <p:blipFill>
          <a:blip r:embed="rId2"/>
          <a:stretch>
            <a:fillRect/>
          </a:stretch>
        </p:blipFill>
        <p:spPr>
          <a:xfrm>
            <a:off x="885369" y="1311756"/>
            <a:ext cx="3916422" cy="2573183"/>
          </a:xfrm>
        </p:spPr>
      </p:pic>
      <p:pic>
        <p:nvPicPr>
          <p:cNvPr id="12" name="Picture 11">
            <a:extLst>
              <a:ext uri="{FF2B5EF4-FFF2-40B4-BE49-F238E27FC236}">
                <a16:creationId xmlns:a16="http://schemas.microsoft.com/office/drawing/2014/main" id="{DB02B358-6BEA-45C1-B035-64A8173349C0}"/>
              </a:ext>
            </a:extLst>
          </p:cNvPr>
          <p:cNvPicPr>
            <a:picLocks noChangeAspect="1"/>
          </p:cNvPicPr>
          <p:nvPr/>
        </p:nvPicPr>
        <p:blipFill>
          <a:blip r:embed="rId3"/>
          <a:stretch>
            <a:fillRect/>
          </a:stretch>
        </p:blipFill>
        <p:spPr>
          <a:xfrm>
            <a:off x="5838158" y="1211375"/>
            <a:ext cx="4576377" cy="5280208"/>
          </a:xfrm>
          <a:prstGeom prst="rect">
            <a:avLst/>
          </a:prstGeom>
        </p:spPr>
      </p:pic>
      <p:sp>
        <p:nvSpPr>
          <p:cNvPr id="14" name="TextBox 13">
            <a:extLst>
              <a:ext uri="{FF2B5EF4-FFF2-40B4-BE49-F238E27FC236}">
                <a16:creationId xmlns:a16="http://schemas.microsoft.com/office/drawing/2014/main" id="{AEC77139-AD7A-4798-8CAA-47FDB1BDC7CF}"/>
              </a:ext>
            </a:extLst>
          </p:cNvPr>
          <p:cNvSpPr txBox="1"/>
          <p:nvPr/>
        </p:nvSpPr>
        <p:spPr>
          <a:xfrm>
            <a:off x="311225" y="693521"/>
            <a:ext cx="6097604" cy="584775"/>
          </a:xfrm>
          <a:prstGeom prst="rect">
            <a:avLst/>
          </a:prstGeom>
          <a:noFill/>
        </p:spPr>
        <p:txBody>
          <a:bodyPr wrap="square">
            <a:spAutoFit/>
          </a:bodyPr>
          <a:lstStyle/>
          <a:p>
            <a:r>
              <a:rPr lang="en-US" sz="3200" dirty="0">
                <a:latin typeface="Arial" panose="020B0604020202020204" pitchFamily="34" charset="0"/>
                <a:cs typeface="Arial" panose="020B0604020202020204" pitchFamily="34" charset="0"/>
              </a:rPr>
              <a:t>Milestone1</a:t>
            </a:r>
            <a:endParaRPr lang="en-US" sz="3200" dirty="0"/>
          </a:p>
        </p:txBody>
      </p:sp>
      <p:pic>
        <p:nvPicPr>
          <p:cNvPr id="6" name="Picture 5">
            <a:extLst>
              <a:ext uri="{FF2B5EF4-FFF2-40B4-BE49-F238E27FC236}">
                <a16:creationId xmlns:a16="http://schemas.microsoft.com/office/drawing/2014/main" id="{04FF1701-DE27-404D-A628-FBC74DBE86AD}"/>
              </a:ext>
            </a:extLst>
          </p:cNvPr>
          <p:cNvPicPr>
            <a:picLocks noChangeAspect="1"/>
          </p:cNvPicPr>
          <p:nvPr/>
        </p:nvPicPr>
        <p:blipFill>
          <a:blip r:embed="rId4"/>
          <a:stretch>
            <a:fillRect/>
          </a:stretch>
        </p:blipFill>
        <p:spPr>
          <a:xfrm>
            <a:off x="279132" y="168442"/>
            <a:ext cx="1636295" cy="506110"/>
          </a:xfrm>
          <a:prstGeom prst="rect">
            <a:avLst/>
          </a:prstGeom>
        </p:spPr>
      </p:pic>
      <p:pic>
        <p:nvPicPr>
          <p:cNvPr id="7" name="Content Placeholder 4">
            <a:extLst>
              <a:ext uri="{FF2B5EF4-FFF2-40B4-BE49-F238E27FC236}">
                <a16:creationId xmlns:a16="http://schemas.microsoft.com/office/drawing/2014/main" id="{410A1BA8-FF14-4066-8EB5-9FA969EACE1B}"/>
              </a:ext>
            </a:extLst>
          </p:cNvPr>
          <p:cNvPicPr>
            <a:picLocks noChangeAspect="1"/>
          </p:cNvPicPr>
          <p:nvPr/>
        </p:nvPicPr>
        <p:blipFill>
          <a:blip r:embed="rId5"/>
          <a:stretch>
            <a:fillRect/>
          </a:stretch>
        </p:blipFill>
        <p:spPr>
          <a:xfrm>
            <a:off x="885370" y="4029748"/>
            <a:ext cx="3916421" cy="2573183"/>
          </a:xfrm>
          <a:prstGeom prst="rect">
            <a:avLst/>
          </a:prstGeom>
        </p:spPr>
      </p:pic>
    </p:spTree>
    <p:extLst>
      <p:ext uri="{BB962C8B-B14F-4D97-AF65-F5344CB8AC3E}">
        <p14:creationId xmlns:p14="http://schemas.microsoft.com/office/powerpoint/2010/main" val="37224581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Box 5">
            <a:extLst>
              <a:ext uri="{FF2B5EF4-FFF2-40B4-BE49-F238E27FC236}">
                <a16:creationId xmlns:a16="http://schemas.microsoft.com/office/drawing/2014/main" id="{4AFCCA89-4EAC-47FD-8CE0-EBD60898F5FB}"/>
              </a:ext>
            </a:extLst>
          </p:cNvPr>
          <p:cNvSpPr txBox="1"/>
          <p:nvPr/>
        </p:nvSpPr>
        <p:spPr>
          <a:xfrm>
            <a:off x="1283726" y="898507"/>
            <a:ext cx="3118585" cy="584775"/>
          </a:xfrm>
          <a:prstGeom prst="rect">
            <a:avLst/>
          </a:prstGeom>
          <a:noFill/>
        </p:spPr>
        <p:txBody>
          <a:bodyPr wrap="square" rtlCol="0">
            <a:spAutoFit/>
          </a:bodyPr>
          <a:lstStyle/>
          <a:p>
            <a:r>
              <a:rPr lang="en-US" sz="3200" dirty="0">
                <a:latin typeface="Arial" panose="020B0604020202020204" pitchFamily="34" charset="0"/>
                <a:cs typeface="Arial" panose="020B0604020202020204" pitchFamily="34" charset="0"/>
              </a:rPr>
              <a:t>Milestone2</a:t>
            </a:r>
          </a:p>
        </p:txBody>
      </p:sp>
      <p:pic>
        <p:nvPicPr>
          <p:cNvPr id="16" name="Picture 15">
            <a:extLst>
              <a:ext uri="{FF2B5EF4-FFF2-40B4-BE49-F238E27FC236}">
                <a16:creationId xmlns:a16="http://schemas.microsoft.com/office/drawing/2014/main" id="{333592C0-DEF6-4572-BEFA-DA5C0D1BC685}"/>
              </a:ext>
            </a:extLst>
          </p:cNvPr>
          <p:cNvPicPr>
            <a:picLocks noChangeAspect="1"/>
          </p:cNvPicPr>
          <p:nvPr/>
        </p:nvPicPr>
        <p:blipFill>
          <a:blip r:embed="rId2"/>
          <a:stretch>
            <a:fillRect/>
          </a:stretch>
        </p:blipFill>
        <p:spPr>
          <a:xfrm>
            <a:off x="5821120" y="3220467"/>
            <a:ext cx="5172000" cy="3351310"/>
          </a:xfrm>
          <a:prstGeom prst="rect">
            <a:avLst/>
          </a:prstGeom>
        </p:spPr>
      </p:pic>
      <p:pic>
        <p:nvPicPr>
          <p:cNvPr id="5" name="Picture 4">
            <a:extLst>
              <a:ext uri="{FF2B5EF4-FFF2-40B4-BE49-F238E27FC236}">
                <a16:creationId xmlns:a16="http://schemas.microsoft.com/office/drawing/2014/main" id="{814D5F87-AA73-4922-8AFF-8599CD288490}"/>
              </a:ext>
            </a:extLst>
          </p:cNvPr>
          <p:cNvPicPr>
            <a:picLocks noChangeAspect="1"/>
          </p:cNvPicPr>
          <p:nvPr/>
        </p:nvPicPr>
        <p:blipFill>
          <a:blip r:embed="rId3"/>
          <a:stretch>
            <a:fillRect/>
          </a:stretch>
        </p:blipFill>
        <p:spPr>
          <a:xfrm>
            <a:off x="5831280" y="269907"/>
            <a:ext cx="5172000" cy="2800566"/>
          </a:xfrm>
          <a:prstGeom prst="rect">
            <a:avLst/>
          </a:prstGeom>
        </p:spPr>
      </p:pic>
      <p:sp>
        <p:nvSpPr>
          <p:cNvPr id="14" name="TextBox 13">
            <a:extLst>
              <a:ext uri="{FF2B5EF4-FFF2-40B4-BE49-F238E27FC236}">
                <a16:creationId xmlns:a16="http://schemas.microsoft.com/office/drawing/2014/main" id="{05908DBD-2F70-4D82-A787-F6F6ED04E978}"/>
              </a:ext>
            </a:extLst>
          </p:cNvPr>
          <p:cNvSpPr txBox="1"/>
          <p:nvPr/>
        </p:nvSpPr>
        <p:spPr>
          <a:xfrm>
            <a:off x="297956" y="1670190"/>
            <a:ext cx="6654800" cy="461665"/>
          </a:xfrm>
          <a:prstGeom prst="rect">
            <a:avLst/>
          </a:prstGeom>
          <a:noFill/>
        </p:spPr>
        <p:txBody>
          <a:bodyPr wrap="square">
            <a:spAutoFit/>
          </a:bodyPr>
          <a:lstStyle/>
          <a:p>
            <a:pPr algn="l"/>
            <a:r>
              <a:rPr lang="en-US" sz="2400" i="0" dirty="0">
                <a:effectLst/>
                <a:latin typeface="Arial" panose="020B0604020202020204" pitchFamily="34" charset="0"/>
                <a:cs typeface="Arial" panose="020B0604020202020204" pitchFamily="34" charset="0"/>
              </a:rPr>
              <a:t>If Detections Exist</a:t>
            </a:r>
          </a:p>
        </p:txBody>
      </p:sp>
      <p:sp>
        <p:nvSpPr>
          <p:cNvPr id="18" name="TextBox 17">
            <a:extLst>
              <a:ext uri="{FF2B5EF4-FFF2-40B4-BE49-F238E27FC236}">
                <a16:creationId xmlns:a16="http://schemas.microsoft.com/office/drawing/2014/main" id="{95BF02EB-1830-4593-BD41-E5FD099F2F5C}"/>
              </a:ext>
            </a:extLst>
          </p:cNvPr>
          <p:cNvSpPr txBox="1"/>
          <p:nvPr/>
        </p:nvSpPr>
        <p:spPr>
          <a:xfrm>
            <a:off x="297956" y="2505670"/>
            <a:ext cx="4437673" cy="3785652"/>
          </a:xfrm>
          <a:prstGeom prst="rect">
            <a:avLst/>
          </a:prstGeom>
          <a:noFill/>
        </p:spPr>
        <p:txBody>
          <a:bodyPr wrap="square" rtlCol="0">
            <a:spAutoFit/>
          </a:bodyPr>
          <a:lstStyle/>
          <a:p>
            <a:pPr marL="285750" indent="-285750">
              <a:buFont typeface="Arial" panose="020B0604020202020204" pitchFamily="34" charset="0"/>
              <a:buChar char="•"/>
            </a:pPr>
            <a:r>
              <a:rPr lang="en-US" sz="2000" dirty="0" err="1">
                <a:latin typeface="Arial" panose="020B0604020202020204" pitchFamily="34" charset="0"/>
                <a:cs typeface="Arial" panose="020B0604020202020204" pitchFamily="34" charset="0"/>
              </a:rPr>
              <a:t>Track_id:</a:t>
            </a:r>
            <a:r>
              <a:rPr lang="en-US" sz="2000" b="0" i="0" dirty="0" err="1">
                <a:effectLst/>
                <a:latin typeface="Arial" panose="020B0604020202020204" pitchFamily="34" charset="0"/>
                <a:cs typeface="Arial" panose="020B0604020202020204" pitchFamily="34" charset="0"/>
              </a:rPr>
              <a:t>The</a:t>
            </a:r>
            <a:r>
              <a:rPr lang="en-US" sz="2000" b="0" i="0" dirty="0">
                <a:effectLst/>
                <a:latin typeface="Arial" panose="020B0604020202020204" pitchFamily="34" charset="0"/>
                <a:cs typeface="Arial" panose="020B0604020202020204" pitchFamily="34" charset="0"/>
              </a:rPr>
              <a:t> unique ID for the person (remains consistent as long as person is visible).</a:t>
            </a:r>
          </a:p>
          <a:p>
            <a:pPr marL="285750" indent="-285750">
              <a:buFont typeface="Arial" panose="020B0604020202020204" pitchFamily="34" charset="0"/>
              <a:buChar char="•"/>
            </a:pPr>
            <a:r>
              <a:rPr lang="en-US" sz="2000" dirty="0" err="1">
                <a:latin typeface="Arial" panose="020B0604020202020204" pitchFamily="34" charset="0"/>
                <a:cs typeface="Arial" panose="020B0604020202020204" pitchFamily="34" charset="0"/>
              </a:rPr>
              <a:t>Bouning</a:t>
            </a:r>
            <a:r>
              <a:rPr lang="en-US" sz="2000" dirty="0">
                <a:latin typeface="Arial" panose="020B0604020202020204" pitchFamily="34" charset="0"/>
                <a:cs typeface="Arial" panose="020B0604020202020204" pitchFamily="34" charset="0"/>
              </a:rPr>
              <a:t> box: </a:t>
            </a:r>
            <a:r>
              <a:rPr lang="en-US" sz="2000" b="0" i="0" dirty="0">
                <a:effectLst/>
                <a:latin typeface="Arial" panose="020B0604020202020204" pitchFamily="34" charset="0"/>
                <a:cs typeface="Arial" panose="020B0604020202020204" pitchFamily="34" charset="0"/>
              </a:rPr>
              <a:t>x1, y1, x2, y2</a:t>
            </a:r>
          </a:p>
          <a:p>
            <a:pPr marL="285750" indent="-285750">
              <a:buFont typeface="Arial" panose="020B0604020202020204" pitchFamily="34" charset="0"/>
              <a:buChar char="•"/>
            </a:pPr>
            <a:r>
              <a:rPr lang="en-US" sz="2000" dirty="0" err="1">
                <a:latin typeface="Arial" panose="020B0604020202020204" pitchFamily="34" charset="0"/>
                <a:cs typeface="Arial" panose="020B0604020202020204" pitchFamily="34" charset="0"/>
              </a:rPr>
              <a:t>Center:cx</a:t>
            </a:r>
            <a:r>
              <a:rPr lang="en-US" sz="2000" dirty="0">
                <a:latin typeface="Arial" panose="020B0604020202020204" pitchFamily="34" charset="0"/>
                <a:cs typeface="Arial" panose="020B0604020202020204" pitchFamily="34" charset="0"/>
              </a:rPr>
              <a:t>=(x1+x2)/2,   cy=(y1+y2)/2  for zone determination, visualization, and tracking</a:t>
            </a:r>
          </a:p>
          <a:p>
            <a:pPr marL="285750" indent="-285750">
              <a:buFont typeface="Arial" panose="020B0604020202020204" pitchFamily="34" charset="0"/>
              <a:buChar char="•"/>
            </a:pPr>
            <a:r>
              <a:rPr lang="en-US" sz="2000" dirty="0">
                <a:latin typeface="Arial" panose="020B0604020202020204" pitchFamily="34" charset="0"/>
                <a:cs typeface="Arial" panose="020B0604020202020204" pitchFamily="34" charset="0"/>
              </a:rPr>
              <a:t>Add </a:t>
            </a:r>
            <a:r>
              <a:rPr lang="en-US" sz="2000" dirty="0" err="1">
                <a:latin typeface="Arial" panose="020B0604020202020204" pitchFamily="34" charset="0"/>
                <a:cs typeface="Arial" panose="020B0604020202020204" pitchFamily="34" charset="0"/>
              </a:rPr>
              <a:t>track_id</a:t>
            </a:r>
            <a:r>
              <a:rPr lang="en-US" sz="2000" dirty="0">
                <a:latin typeface="Arial" panose="020B0604020202020204" pitchFamily="34" charset="0"/>
                <a:cs typeface="Arial" panose="020B0604020202020204" pitchFamily="34" charset="0"/>
              </a:rPr>
              <a:t> to the video-wide set of unique IDs.</a:t>
            </a:r>
          </a:p>
          <a:p>
            <a:pPr marL="285750" indent="-285750">
              <a:buFont typeface="Arial" panose="020B0604020202020204" pitchFamily="34" charset="0"/>
              <a:buChar char="•"/>
            </a:pPr>
            <a:endParaRPr lang="en-US" sz="2000" b="0" i="0" dirty="0">
              <a:solidFill>
                <a:srgbClr val="4D4D4C"/>
              </a:solidFill>
              <a:effectLst/>
              <a:latin typeface="Arial" panose="020B0604020202020204" pitchFamily="34" charset="0"/>
              <a:cs typeface="Arial" panose="020B0604020202020204" pitchFamily="34" charset="0"/>
            </a:endParaRPr>
          </a:p>
          <a:p>
            <a:pPr marL="285750" indent="-285750">
              <a:buFont typeface="Arial" panose="020B0604020202020204" pitchFamily="34" charset="0"/>
              <a:buChar char="•"/>
            </a:pPr>
            <a:endParaRPr lang="en-US" sz="2000" dirty="0">
              <a:latin typeface="Arial" panose="020B0604020202020204" pitchFamily="34" charset="0"/>
              <a:cs typeface="Arial" panose="020B0604020202020204" pitchFamily="34" charset="0"/>
            </a:endParaRPr>
          </a:p>
        </p:txBody>
      </p:sp>
      <p:pic>
        <p:nvPicPr>
          <p:cNvPr id="7" name="Picture 6">
            <a:extLst>
              <a:ext uri="{FF2B5EF4-FFF2-40B4-BE49-F238E27FC236}">
                <a16:creationId xmlns:a16="http://schemas.microsoft.com/office/drawing/2014/main" id="{0EBCED92-C326-499B-BC32-DAD94744D00B}"/>
              </a:ext>
            </a:extLst>
          </p:cNvPr>
          <p:cNvPicPr>
            <a:picLocks noChangeAspect="1"/>
          </p:cNvPicPr>
          <p:nvPr/>
        </p:nvPicPr>
        <p:blipFill>
          <a:blip r:embed="rId4"/>
          <a:stretch>
            <a:fillRect/>
          </a:stretch>
        </p:blipFill>
        <p:spPr>
          <a:xfrm>
            <a:off x="279132" y="168442"/>
            <a:ext cx="1636295" cy="506110"/>
          </a:xfrm>
          <a:prstGeom prst="rect">
            <a:avLst/>
          </a:prstGeom>
        </p:spPr>
      </p:pic>
    </p:spTree>
    <p:extLst>
      <p:ext uri="{BB962C8B-B14F-4D97-AF65-F5344CB8AC3E}">
        <p14:creationId xmlns:p14="http://schemas.microsoft.com/office/powerpoint/2010/main" val="507353221"/>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TextBox 9">
            <a:extLst>
              <a:ext uri="{FF2B5EF4-FFF2-40B4-BE49-F238E27FC236}">
                <a16:creationId xmlns:a16="http://schemas.microsoft.com/office/drawing/2014/main" id="{74DB7C15-D698-4683-B5EE-ACE0E7826EE3}"/>
              </a:ext>
            </a:extLst>
          </p:cNvPr>
          <p:cNvSpPr txBox="1"/>
          <p:nvPr/>
        </p:nvSpPr>
        <p:spPr>
          <a:xfrm>
            <a:off x="988997" y="806888"/>
            <a:ext cx="6097604" cy="584775"/>
          </a:xfrm>
          <a:prstGeom prst="rect">
            <a:avLst/>
          </a:prstGeom>
          <a:noFill/>
        </p:spPr>
        <p:txBody>
          <a:bodyPr wrap="square">
            <a:spAutoFit/>
          </a:bodyPr>
          <a:lstStyle/>
          <a:p>
            <a:r>
              <a:rPr lang="en-US" sz="3200" dirty="0">
                <a:latin typeface="Arial" panose="020B0604020202020204" pitchFamily="34" charset="0"/>
                <a:cs typeface="Arial" panose="020B0604020202020204" pitchFamily="34" charset="0"/>
              </a:rPr>
              <a:t>Milestone3</a:t>
            </a:r>
          </a:p>
        </p:txBody>
      </p:sp>
      <p:pic>
        <p:nvPicPr>
          <p:cNvPr id="11" name="Content Placeholder 3">
            <a:extLst>
              <a:ext uri="{FF2B5EF4-FFF2-40B4-BE49-F238E27FC236}">
                <a16:creationId xmlns:a16="http://schemas.microsoft.com/office/drawing/2014/main" id="{BE7FE31F-4041-432E-BAAE-9D2C68AFF609}"/>
              </a:ext>
            </a:extLst>
          </p:cNvPr>
          <p:cNvPicPr>
            <a:picLocks noChangeAspect="1"/>
          </p:cNvPicPr>
          <p:nvPr/>
        </p:nvPicPr>
        <p:blipFill>
          <a:blip r:embed="rId2"/>
          <a:stretch>
            <a:fillRect/>
          </a:stretch>
        </p:blipFill>
        <p:spPr>
          <a:xfrm>
            <a:off x="5364480" y="1219201"/>
            <a:ext cx="6417000" cy="4777372"/>
          </a:xfrm>
          <a:prstGeom prst="rect">
            <a:avLst/>
          </a:prstGeom>
        </p:spPr>
      </p:pic>
      <p:sp>
        <p:nvSpPr>
          <p:cNvPr id="2" name="TextBox 1">
            <a:extLst>
              <a:ext uri="{FF2B5EF4-FFF2-40B4-BE49-F238E27FC236}">
                <a16:creationId xmlns:a16="http://schemas.microsoft.com/office/drawing/2014/main" id="{1232FB26-9EC7-439D-A72D-9EF4B30C0E75}"/>
              </a:ext>
            </a:extLst>
          </p:cNvPr>
          <p:cNvSpPr txBox="1"/>
          <p:nvPr/>
        </p:nvSpPr>
        <p:spPr>
          <a:xfrm>
            <a:off x="410519" y="1524000"/>
            <a:ext cx="4883376" cy="4893647"/>
          </a:xfrm>
          <a:prstGeom prst="rect">
            <a:avLst/>
          </a:prstGeom>
          <a:noFill/>
        </p:spPr>
        <p:txBody>
          <a:bodyPr wrap="square" rtlCol="0">
            <a:spAutoFit/>
          </a:bodyPr>
          <a:lstStyle/>
          <a:p>
            <a:pPr marL="285750" indent="-285750">
              <a:buFont typeface="Arial" panose="020B0604020202020204" pitchFamily="34" charset="0"/>
              <a:buChar char="•"/>
            </a:pPr>
            <a:r>
              <a:rPr lang="en-US" sz="2400" b="0" i="0" dirty="0">
                <a:effectLst/>
                <a:latin typeface="Arial" panose="020B0604020202020204" pitchFamily="34" charset="0"/>
                <a:cs typeface="Arial" panose="020B0604020202020204" pitchFamily="34" charset="0"/>
              </a:rPr>
              <a:t>Zone 1: If center is inside the defined rectangular zone, add to zone 1 set/list, draw bounding box in yellow.</a:t>
            </a:r>
          </a:p>
          <a:p>
            <a:pPr marL="285750" indent="-285750">
              <a:buFont typeface="Arial" panose="020B0604020202020204" pitchFamily="34" charset="0"/>
              <a:buChar char="•"/>
            </a:pPr>
            <a:r>
              <a:rPr lang="en-US" sz="2400" b="0" i="0" dirty="0">
                <a:effectLst/>
                <a:latin typeface="Arial" panose="020B0604020202020204" pitchFamily="34" charset="0"/>
                <a:cs typeface="Arial" panose="020B0604020202020204" pitchFamily="34" charset="0"/>
              </a:rPr>
              <a:t>Zone 2: Otherwise, add to zone 2, draw bounding box in magenta.</a:t>
            </a:r>
          </a:p>
          <a:p>
            <a:pPr marL="285750" indent="-285750">
              <a:buFont typeface="Arial" panose="020B0604020202020204" pitchFamily="34" charset="0"/>
              <a:buChar char="•"/>
            </a:pPr>
            <a:r>
              <a:rPr lang="en-US" sz="2400" b="0" i="0" dirty="0">
                <a:effectLst/>
                <a:latin typeface="Arial" panose="020B0604020202020204" pitchFamily="34" charset="0"/>
                <a:cs typeface="Arial" panose="020B0604020202020204" pitchFamily="34" charset="0"/>
              </a:rPr>
              <a:t>Label each tracked person with their unique track ID</a:t>
            </a:r>
          </a:p>
          <a:p>
            <a:pPr marL="285750" indent="-285750">
              <a:buFont typeface="Arial" panose="020B0604020202020204" pitchFamily="34" charset="0"/>
              <a:buChar char="•"/>
            </a:pPr>
            <a:r>
              <a:rPr lang="en-US" sz="2400" b="0" i="0" dirty="0">
                <a:effectLst/>
                <a:latin typeface="Arial" panose="020B0604020202020204" pitchFamily="34" charset="0"/>
                <a:cs typeface="Arial" panose="020B0604020202020204" pitchFamily="34" charset="0"/>
              </a:rPr>
              <a:t>If zone 1 is too crowded, add a big red alert at the bottom of the frame.</a:t>
            </a:r>
          </a:p>
          <a:p>
            <a:pPr marL="285750" indent="-285750">
              <a:buFont typeface="Arial" panose="020B0604020202020204" pitchFamily="34" charset="0"/>
              <a:buChar char="•"/>
            </a:pPr>
            <a:endParaRPr lang="en-US" sz="2400" b="0" i="0" dirty="0">
              <a:effectLst/>
              <a:latin typeface="Arial" panose="020B0604020202020204" pitchFamily="34" charset="0"/>
              <a:cs typeface="Arial" panose="020B0604020202020204" pitchFamily="34" charset="0"/>
            </a:endParaRPr>
          </a:p>
        </p:txBody>
      </p:sp>
      <p:pic>
        <p:nvPicPr>
          <p:cNvPr id="5" name="Picture 4">
            <a:extLst>
              <a:ext uri="{FF2B5EF4-FFF2-40B4-BE49-F238E27FC236}">
                <a16:creationId xmlns:a16="http://schemas.microsoft.com/office/drawing/2014/main" id="{D98B0B25-90A7-4F17-8EC0-62C4582EDCC7}"/>
              </a:ext>
            </a:extLst>
          </p:cNvPr>
          <p:cNvPicPr>
            <a:picLocks noChangeAspect="1"/>
          </p:cNvPicPr>
          <p:nvPr/>
        </p:nvPicPr>
        <p:blipFill>
          <a:blip r:embed="rId3"/>
          <a:stretch>
            <a:fillRect/>
          </a:stretch>
        </p:blipFill>
        <p:spPr>
          <a:xfrm>
            <a:off x="279132" y="168442"/>
            <a:ext cx="1636295" cy="506110"/>
          </a:xfrm>
          <a:prstGeom prst="rect">
            <a:avLst/>
          </a:prstGeom>
        </p:spPr>
      </p:pic>
    </p:spTree>
    <p:extLst>
      <p:ext uri="{BB962C8B-B14F-4D97-AF65-F5344CB8AC3E}">
        <p14:creationId xmlns:p14="http://schemas.microsoft.com/office/powerpoint/2010/main" val="602501269"/>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Content Placeholder 4">
            <a:extLst>
              <a:ext uri="{FF2B5EF4-FFF2-40B4-BE49-F238E27FC236}">
                <a16:creationId xmlns:a16="http://schemas.microsoft.com/office/drawing/2014/main" id="{DB5245E0-3A55-427F-B6DF-70E41DB41505}"/>
              </a:ext>
            </a:extLst>
          </p:cNvPr>
          <p:cNvPicPr>
            <a:picLocks noChangeAspect="1"/>
          </p:cNvPicPr>
          <p:nvPr/>
        </p:nvPicPr>
        <p:blipFill>
          <a:blip r:embed="rId2"/>
          <a:stretch>
            <a:fillRect/>
          </a:stretch>
        </p:blipFill>
        <p:spPr>
          <a:xfrm>
            <a:off x="981183" y="1333098"/>
            <a:ext cx="7905789" cy="5043638"/>
          </a:xfrm>
          <a:prstGeom prst="rect">
            <a:avLst/>
          </a:prstGeom>
        </p:spPr>
      </p:pic>
      <p:sp>
        <p:nvSpPr>
          <p:cNvPr id="2" name="TextBox 1">
            <a:extLst>
              <a:ext uri="{FF2B5EF4-FFF2-40B4-BE49-F238E27FC236}">
                <a16:creationId xmlns:a16="http://schemas.microsoft.com/office/drawing/2014/main" id="{AB5E00FF-9D27-414B-9099-16F69668DF30}"/>
              </a:ext>
            </a:extLst>
          </p:cNvPr>
          <p:cNvSpPr txBox="1"/>
          <p:nvPr/>
        </p:nvSpPr>
        <p:spPr>
          <a:xfrm>
            <a:off x="376218" y="481264"/>
            <a:ext cx="9115718" cy="584775"/>
          </a:xfrm>
          <a:prstGeom prst="rect">
            <a:avLst/>
          </a:prstGeom>
          <a:noFill/>
        </p:spPr>
        <p:txBody>
          <a:bodyPr wrap="square" rtlCol="0">
            <a:spAutoFit/>
          </a:bodyPr>
          <a:lstStyle/>
          <a:p>
            <a:pPr algn="ctr"/>
            <a:r>
              <a:rPr lang="en-US" sz="3200" dirty="0">
                <a:latin typeface="Arial" panose="020B0604020202020204" pitchFamily="34" charset="0"/>
                <a:cs typeface="Arial" panose="020B0604020202020204" pitchFamily="34" charset="0"/>
              </a:rPr>
              <a:t>Visualizations</a:t>
            </a:r>
          </a:p>
        </p:txBody>
      </p:sp>
      <p:pic>
        <p:nvPicPr>
          <p:cNvPr id="4" name="Picture 3">
            <a:extLst>
              <a:ext uri="{FF2B5EF4-FFF2-40B4-BE49-F238E27FC236}">
                <a16:creationId xmlns:a16="http://schemas.microsoft.com/office/drawing/2014/main" id="{7D31B0EB-65E7-4F35-9C70-023E9698B24D}"/>
              </a:ext>
            </a:extLst>
          </p:cNvPr>
          <p:cNvPicPr>
            <a:picLocks noChangeAspect="1"/>
          </p:cNvPicPr>
          <p:nvPr/>
        </p:nvPicPr>
        <p:blipFill>
          <a:blip r:embed="rId3"/>
          <a:stretch>
            <a:fillRect/>
          </a:stretch>
        </p:blipFill>
        <p:spPr>
          <a:xfrm>
            <a:off x="279132" y="168442"/>
            <a:ext cx="1636295" cy="506110"/>
          </a:xfrm>
          <a:prstGeom prst="rect">
            <a:avLst/>
          </a:prstGeom>
        </p:spPr>
      </p:pic>
    </p:spTree>
    <p:extLst>
      <p:ext uri="{BB962C8B-B14F-4D97-AF65-F5344CB8AC3E}">
        <p14:creationId xmlns:p14="http://schemas.microsoft.com/office/powerpoint/2010/main" val="224407695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Box 5">
            <a:extLst>
              <a:ext uri="{FF2B5EF4-FFF2-40B4-BE49-F238E27FC236}">
                <a16:creationId xmlns:a16="http://schemas.microsoft.com/office/drawing/2014/main" id="{4AFCCA89-4EAC-47FD-8CE0-EBD60898F5FB}"/>
              </a:ext>
            </a:extLst>
          </p:cNvPr>
          <p:cNvSpPr txBox="1"/>
          <p:nvPr/>
        </p:nvSpPr>
        <p:spPr>
          <a:xfrm>
            <a:off x="2892333" y="423423"/>
            <a:ext cx="3118585" cy="584775"/>
          </a:xfrm>
          <a:prstGeom prst="rect">
            <a:avLst/>
          </a:prstGeom>
          <a:noFill/>
        </p:spPr>
        <p:txBody>
          <a:bodyPr wrap="square" rtlCol="0">
            <a:spAutoFit/>
          </a:bodyPr>
          <a:lstStyle/>
          <a:p>
            <a:r>
              <a:rPr lang="en-US" sz="3200" dirty="0">
                <a:latin typeface="Arial" panose="020B0604020202020204" pitchFamily="34" charset="0"/>
                <a:cs typeface="Arial" panose="020B0604020202020204" pitchFamily="34" charset="0"/>
              </a:rPr>
              <a:t>Milestone4</a:t>
            </a:r>
          </a:p>
        </p:txBody>
      </p:sp>
      <p:pic>
        <p:nvPicPr>
          <p:cNvPr id="9" name="Content Placeholder 8">
            <a:extLst>
              <a:ext uri="{FF2B5EF4-FFF2-40B4-BE49-F238E27FC236}">
                <a16:creationId xmlns:a16="http://schemas.microsoft.com/office/drawing/2014/main" id="{7762BD04-969B-4286-AD44-445C85FF36AC}"/>
              </a:ext>
            </a:extLst>
          </p:cNvPr>
          <p:cNvPicPr>
            <a:picLocks noGrp="1" noChangeAspect="1"/>
          </p:cNvPicPr>
          <p:nvPr>
            <p:ph idx="1"/>
          </p:nvPr>
        </p:nvPicPr>
        <p:blipFill>
          <a:blip r:embed="rId2"/>
          <a:stretch>
            <a:fillRect/>
          </a:stretch>
        </p:blipFill>
        <p:spPr>
          <a:xfrm>
            <a:off x="6010918" y="1412550"/>
            <a:ext cx="4182236" cy="4729638"/>
          </a:xfrm>
        </p:spPr>
      </p:pic>
      <p:pic>
        <p:nvPicPr>
          <p:cNvPr id="10" name="Content Placeholder 3">
            <a:extLst>
              <a:ext uri="{FF2B5EF4-FFF2-40B4-BE49-F238E27FC236}">
                <a16:creationId xmlns:a16="http://schemas.microsoft.com/office/drawing/2014/main" id="{ACC2E35E-BD97-4D5A-81D7-A50307137502}"/>
              </a:ext>
            </a:extLst>
          </p:cNvPr>
          <p:cNvPicPr>
            <a:picLocks noChangeAspect="1"/>
          </p:cNvPicPr>
          <p:nvPr/>
        </p:nvPicPr>
        <p:blipFill>
          <a:blip r:embed="rId3"/>
          <a:stretch>
            <a:fillRect/>
          </a:stretch>
        </p:blipFill>
        <p:spPr>
          <a:xfrm>
            <a:off x="1296510" y="1412550"/>
            <a:ext cx="3701032" cy="4729639"/>
          </a:xfrm>
          <a:prstGeom prst="rect">
            <a:avLst/>
          </a:prstGeom>
        </p:spPr>
      </p:pic>
      <p:pic>
        <p:nvPicPr>
          <p:cNvPr id="5" name="Picture 4">
            <a:extLst>
              <a:ext uri="{FF2B5EF4-FFF2-40B4-BE49-F238E27FC236}">
                <a16:creationId xmlns:a16="http://schemas.microsoft.com/office/drawing/2014/main" id="{6255D643-7ED6-4ABA-AE96-790A799F2E3B}"/>
              </a:ext>
            </a:extLst>
          </p:cNvPr>
          <p:cNvPicPr>
            <a:picLocks noChangeAspect="1"/>
          </p:cNvPicPr>
          <p:nvPr/>
        </p:nvPicPr>
        <p:blipFill>
          <a:blip r:embed="rId4"/>
          <a:stretch>
            <a:fillRect/>
          </a:stretch>
        </p:blipFill>
        <p:spPr>
          <a:xfrm>
            <a:off x="279132" y="168442"/>
            <a:ext cx="1636295" cy="506110"/>
          </a:xfrm>
          <a:prstGeom prst="rect">
            <a:avLst/>
          </a:prstGeom>
        </p:spPr>
      </p:pic>
    </p:spTree>
    <p:extLst>
      <p:ext uri="{BB962C8B-B14F-4D97-AF65-F5344CB8AC3E}">
        <p14:creationId xmlns:p14="http://schemas.microsoft.com/office/powerpoint/2010/main" val="2112253905"/>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EFE19AB-B73D-43E6-B1D0-A8DD09F74091}"/>
              </a:ext>
            </a:extLst>
          </p:cNvPr>
          <p:cNvSpPr>
            <a:spLocks noGrp="1"/>
          </p:cNvSpPr>
          <p:nvPr>
            <p:ph type="title"/>
          </p:nvPr>
        </p:nvSpPr>
        <p:spPr>
          <a:xfrm>
            <a:off x="581192" y="246588"/>
            <a:ext cx="9380955" cy="658842"/>
          </a:xfrm>
        </p:spPr>
        <p:txBody>
          <a:bodyPr>
            <a:normAutofit/>
          </a:bodyPr>
          <a:lstStyle/>
          <a:p>
            <a:pPr algn="ctr"/>
            <a:r>
              <a:rPr lang="en-US" sz="3200" b="1" dirty="0">
                <a:latin typeface="Arial" panose="020B0604020202020204" pitchFamily="34" charset="0"/>
                <a:cs typeface="Arial" panose="020B0604020202020204" pitchFamily="34" charset="0"/>
              </a:rPr>
              <a:t>APPLICATIONS</a:t>
            </a:r>
            <a:endParaRPr lang="en-US" sz="3200" b="1" dirty="0"/>
          </a:p>
        </p:txBody>
      </p:sp>
      <p:sp>
        <p:nvSpPr>
          <p:cNvPr id="3" name="Content Placeholder 2">
            <a:extLst>
              <a:ext uri="{FF2B5EF4-FFF2-40B4-BE49-F238E27FC236}">
                <a16:creationId xmlns:a16="http://schemas.microsoft.com/office/drawing/2014/main" id="{ABA2ED99-E16E-471A-A411-84CC30F94C72}"/>
              </a:ext>
            </a:extLst>
          </p:cNvPr>
          <p:cNvSpPr>
            <a:spLocks noGrp="1"/>
          </p:cNvSpPr>
          <p:nvPr>
            <p:ph idx="1"/>
          </p:nvPr>
        </p:nvSpPr>
        <p:spPr>
          <a:xfrm>
            <a:off x="472106" y="1173794"/>
            <a:ext cx="9563835" cy="5506139"/>
          </a:xfrm>
        </p:spPr>
        <p:txBody>
          <a:bodyPr>
            <a:noAutofit/>
          </a:bodyPr>
          <a:lstStyle/>
          <a:p>
            <a:pPr algn="just"/>
            <a:r>
              <a:rPr lang="en-US" sz="2000" b="1" i="0" dirty="0">
                <a:effectLst/>
                <a:latin typeface="Arial" panose="020B0604020202020204" pitchFamily="34" charset="0"/>
                <a:cs typeface="Arial" panose="020B0604020202020204" pitchFamily="34" charset="0"/>
              </a:rPr>
              <a:t>Retail and Commercial Environments</a:t>
            </a:r>
            <a:r>
              <a:rPr lang="en-US" sz="2000" b="0" i="0" dirty="0">
                <a:effectLst/>
                <a:latin typeface="Arial" panose="020B0604020202020204" pitchFamily="34" charset="0"/>
                <a:cs typeface="Arial" panose="020B0604020202020204" pitchFamily="34" charset="0"/>
              </a:rPr>
              <a:t>: Analyze visitor density in malls, stores, and commercial venues to improve customer experience, optimize staffing, and reduce bottlenecks.​ Manage queues and adjust entry/exit flows based on live occupancy data.</a:t>
            </a:r>
          </a:p>
          <a:p>
            <a:pPr algn="just"/>
            <a:r>
              <a:rPr lang="en-US" sz="2000" b="1" i="0" dirty="0">
                <a:effectLst/>
                <a:latin typeface="Arial" panose="020B0604020202020204" pitchFamily="34" charset="0"/>
                <a:cs typeface="Arial" panose="020B0604020202020204" pitchFamily="34" charset="0"/>
              </a:rPr>
              <a:t>Public Safety and Event Management: </a:t>
            </a:r>
            <a:r>
              <a:rPr lang="en-US" sz="2000" b="0" i="0" dirty="0">
                <a:effectLst/>
                <a:latin typeface="Arial" panose="020B0604020202020204" pitchFamily="34" charset="0"/>
                <a:cs typeface="Arial" panose="020B0604020202020204" pitchFamily="34" charset="0"/>
              </a:rPr>
              <a:t>Monitor crowd density at large gatherings such as concerts, sporting events, and religious festivals to prevent overcrowding and stampedes. Detect unusual or risky behaviors and generate real-time alerts for security teams ​</a:t>
            </a:r>
          </a:p>
          <a:p>
            <a:pPr algn="just"/>
            <a:r>
              <a:rPr lang="en-US" sz="2000" b="1" i="0" dirty="0">
                <a:effectLst/>
                <a:latin typeface="Arial" panose="020B0604020202020204" pitchFamily="34" charset="0"/>
                <a:cs typeface="Arial" panose="020B0604020202020204" pitchFamily="34" charset="0"/>
              </a:rPr>
              <a:t>Transport Hubs and City Spaces: </a:t>
            </a:r>
            <a:r>
              <a:rPr lang="en-US" sz="2000" b="0" i="0" dirty="0">
                <a:effectLst/>
                <a:latin typeface="Arial" panose="020B0604020202020204" pitchFamily="34" charset="0"/>
                <a:cs typeface="Arial" panose="020B0604020202020204" pitchFamily="34" charset="0"/>
              </a:rPr>
              <a:t>Track crowd movement and occupancy at airports, train stations, and bus terminals for efficient resource allocation and congestion prevention Assist city planners in analyzing pedestrian flow and optimizing urban design for safer and more accessible public spaces.</a:t>
            </a:r>
          </a:p>
          <a:p>
            <a:pPr algn="just"/>
            <a:r>
              <a:rPr lang="en-US" sz="2000" b="1" i="0" dirty="0">
                <a:effectLst/>
                <a:latin typeface="Arial" panose="020B0604020202020204" pitchFamily="34" charset="0"/>
                <a:cs typeface="Arial" panose="020B0604020202020204" pitchFamily="34" charset="0"/>
              </a:rPr>
              <a:t>Threat Detection and Security</a:t>
            </a:r>
            <a:r>
              <a:rPr lang="en-US" sz="2000" b="1" dirty="0">
                <a:latin typeface="Arial" panose="020B0604020202020204" pitchFamily="34" charset="0"/>
                <a:cs typeface="Arial" panose="020B0604020202020204" pitchFamily="34" charset="0"/>
              </a:rPr>
              <a:t>: </a:t>
            </a:r>
            <a:r>
              <a:rPr lang="en-US" sz="2000" b="0" i="0" dirty="0">
                <a:effectLst/>
                <a:latin typeface="Arial" panose="020B0604020202020204" pitchFamily="34" charset="0"/>
                <a:cs typeface="Arial" panose="020B0604020202020204" pitchFamily="34" charset="0"/>
              </a:rPr>
              <a:t>Identify potential threats like overcrowding, stampedes, and abnormal crowd movements using AI and machine learning models</a:t>
            </a:r>
            <a:r>
              <a:rPr lang="en-US" sz="2000" dirty="0">
                <a:latin typeface="Arial" panose="020B0604020202020204" pitchFamily="34" charset="0"/>
                <a:cs typeface="Arial" panose="020B0604020202020204" pitchFamily="34" charset="0"/>
              </a:rPr>
              <a:t>. </a:t>
            </a:r>
            <a:r>
              <a:rPr lang="en-US" sz="2000" b="0" i="0" dirty="0">
                <a:effectLst/>
                <a:latin typeface="Arial" panose="020B0604020202020204" pitchFamily="34" charset="0"/>
                <a:cs typeface="Arial" panose="020B0604020202020204" pitchFamily="34" charset="0"/>
              </a:rPr>
              <a:t>Facilitate quick incident response by integrating alerts and logs with emergency services systems.</a:t>
            </a:r>
          </a:p>
          <a:p>
            <a:pPr algn="just"/>
            <a:endParaRPr lang="en-US" sz="2000" b="0" i="0" dirty="0">
              <a:effectLst/>
              <a:latin typeface="Arial" panose="020B0604020202020204" pitchFamily="34" charset="0"/>
              <a:cs typeface="Arial" panose="020B0604020202020204" pitchFamily="34" charset="0"/>
            </a:endParaRPr>
          </a:p>
        </p:txBody>
      </p:sp>
      <p:pic>
        <p:nvPicPr>
          <p:cNvPr id="4" name="Picture 3">
            <a:extLst>
              <a:ext uri="{FF2B5EF4-FFF2-40B4-BE49-F238E27FC236}">
                <a16:creationId xmlns:a16="http://schemas.microsoft.com/office/drawing/2014/main" id="{9945BCCE-446A-424B-BE97-BC6FA4A25928}"/>
              </a:ext>
            </a:extLst>
          </p:cNvPr>
          <p:cNvPicPr>
            <a:picLocks noChangeAspect="1"/>
          </p:cNvPicPr>
          <p:nvPr/>
        </p:nvPicPr>
        <p:blipFill>
          <a:blip r:embed="rId2"/>
          <a:stretch>
            <a:fillRect/>
          </a:stretch>
        </p:blipFill>
        <p:spPr>
          <a:xfrm>
            <a:off x="279132" y="168442"/>
            <a:ext cx="1636295" cy="506110"/>
          </a:xfrm>
          <a:prstGeom prst="rect">
            <a:avLst/>
          </a:prstGeom>
        </p:spPr>
      </p:pic>
    </p:spTree>
    <p:extLst>
      <p:ext uri="{BB962C8B-B14F-4D97-AF65-F5344CB8AC3E}">
        <p14:creationId xmlns:p14="http://schemas.microsoft.com/office/powerpoint/2010/main" val="423882486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FB5A2ED-BEFF-43D0-A25E-AD34FA6EEF36}"/>
              </a:ext>
            </a:extLst>
          </p:cNvPr>
          <p:cNvSpPr>
            <a:spLocks noGrp="1"/>
          </p:cNvSpPr>
          <p:nvPr>
            <p:ph type="title"/>
          </p:nvPr>
        </p:nvSpPr>
        <p:spPr>
          <a:xfrm>
            <a:off x="581192" y="309150"/>
            <a:ext cx="9072947" cy="591465"/>
          </a:xfrm>
        </p:spPr>
        <p:txBody>
          <a:bodyPr>
            <a:normAutofit/>
          </a:bodyPr>
          <a:lstStyle/>
          <a:p>
            <a:pPr algn="ctr"/>
            <a:r>
              <a:rPr lang="en-US" sz="3200" b="1" dirty="0">
                <a:latin typeface="Arial" panose="020B0604020202020204" pitchFamily="34" charset="0"/>
                <a:cs typeface="Arial" panose="020B0604020202020204" pitchFamily="34" charset="0"/>
              </a:rPr>
              <a:t>FUTURE ENHANCEMENT</a:t>
            </a:r>
            <a:endParaRPr lang="en-US" sz="3200" b="1" dirty="0"/>
          </a:p>
        </p:txBody>
      </p:sp>
      <p:sp>
        <p:nvSpPr>
          <p:cNvPr id="3" name="Content Placeholder 2">
            <a:extLst>
              <a:ext uri="{FF2B5EF4-FFF2-40B4-BE49-F238E27FC236}">
                <a16:creationId xmlns:a16="http://schemas.microsoft.com/office/drawing/2014/main" id="{2F2F1C32-5536-467D-8B85-E43940C129F1}"/>
              </a:ext>
            </a:extLst>
          </p:cNvPr>
          <p:cNvSpPr>
            <a:spLocks noGrp="1"/>
          </p:cNvSpPr>
          <p:nvPr>
            <p:ph idx="1"/>
          </p:nvPr>
        </p:nvSpPr>
        <p:spPr>
          <a:xfrm>
            <a:off x="581191" y="1265438"/>
            <a:ext cx="9400207" cy="5283411"/>
          </a:xfrm>
        </p:spPr>
        <p:txBody>
          <a:bodyPr>
            <a:noAutofit/>
          </a:bodyPr>
          <a:lstStyle/>
          <a:p>
            <a:r>
              <a:rPr lang="en-US" sz="2000" b="0" i="0" dirty="0">
                <a:effectLst/>
                <a:latin typeface="Arial" panose="020B0604020202020204" pitchFamily="34" charset="0"/>
                <a:cs typeface="Arial" panose="020B0604020202020204" pitchFamily="34" charset="0"/>
              </a:rPr>
              <a:t>Sensor Fusion and IoT Integration: Connect multiple sensor types—such as cameras, LiDAR, thermal imaging, Wi-Fi, and RFID—to deliver more accurate crowd analysis, location tracking, and environmental awareness in real time.</a:t>
            </a:r>
          </a:p>
          <a:p>
            <a:r>
              <a:rPr lang="en-US" sz="2000" b="0" i="0" dirty="0">
                <a:effectLst/>
                <a:latin typeface="Arial" panose="020B0604020202020204" pitchFamily="34" charset="0"/>
                <a:cs typeface="Arial" panose="020B0604020202020204" pitchFamily="34" charset="0"/>
              </a:rPr>
              <a:t>Behavior Analysis Beyond Counting: Enhance crowd analytics to recognize specific behaviors, sentiments, or anomalies (e.g., panic, aggression, distress) by integrating deep learning models capable of complex activity recognition.</a:t>
            </a:r>
            <a:endParaRPr lang="en-US" sz="2000" dirty="0">
              <a:latin typeface="Arial" panose="020B0604020202020204" pitchFamily="34" charset="0"/>
              <a:cs typeface="Arial" panose="020B0604020202020204" pitchFamily="34" charset="0"/>
            </a:endParaRPr>
          </a:p>
          <a:p>
            <a:r>
              <a:rPr lang="en-US" sz="2000" b="0" i="0" dirty="0">
                <a:effectLst/>
                <a:latin typeface="Arial" panose="020B0604020202020204" pitchFamily="34" charset="0"/>
                <a:cs typeface="Arial" panose="020B0604020202020204" pitchFamily="34" charset="0"/>
              </a:rPr>
              <a:t>Edge Computing &amp; Real-Time Response: Employ edge computing with 5G connectivity to process video and sensor data directly at the source, reducing latency and enabling instant alerts and interventions during large-scale events.</a:t>
            </a:r>
          </a:p>
          <a:p>
            <a:r>
              <a:rPr lang="en-US" sz="2000" b="0" i="0" dirty="0">
                <a:effectLst/>
                <a:latin typeface="Arial" panose="020B0604020202020204" pitchFamily="34" charset="0"/>
                <a:cs typeface="Arial" panose="020B0604020202020204" pitchFamily="34" charset="0"/>
              </a:rPr>
              <a:t>AI-Powered Predictive Analytics: Integrate advanced AI models that use historical and real-time data to forecast crowd behaviors, movement patterns, and potential risks, enabling proactive safety measures and optimized event planning.</a:t>
            </a:r>
          </a:p>
        </p:txBody>
      </p:sp>
      <p:pic>
        <p:nvPicPr>
          <p:cNvPr id="4" name="Picture 3">
            <a:extLst>
              <a:ext uri="{FF2B5EF4-FFF2-40B4-BE49-F238E27FC236}">
                <a16:creationId xmlns:a16="http://schemas.microsoft.com/office/drawing/2014/main" id="{35091CD5-3743-4A21-B8ED-01C980D292B5}"/>
              </a:ext>
            </a:extLst>
          </p:cNvPr>
          <p:cNvPicPr>
            <a:picLocks noChangeAspect="1"/>
          </p:cNvPicPr>
          <p:nvPr/>
        </p:nvPicPr>
        <p:blipFill>
          <a:blip r:embed="rId2"/>
          <a:stretch>
            <a:fillRect/>
          </a:stretch>
        </p:blipFill>
        <p:spPr>
          <a:xfrm>
            <a:off x="279132" y="168442"/>
            <a:ext cx="1636295" cy="506110"/>
          </a:xfrm>
          <a:prstGeom prst="rect">
            <a:avLst/>
          </a:prstGeom>
        </p:spPr>
      </p:pic>
    </p:spTree>
    <p:extLst>
      <p:ext uri="{BB962C8B-B14F-4D97-AF65-F5344CB8AC3E}">
        <p14:creationId xmlns:p14="http://schemas.microsoft.com/office/powerpoint/2010/main" val="2401659012"/>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8864653-F245-4D5E-B55D-AB3564E23840}"/>
              </a:ext>
            </a:extLst>
          </p:cNvPr>
          <p:cNvSpPr>
            <a:spLocks noGrp="1"/>
          </p:cNvSpPr>
          <p:nvPr>
            <p:ph type="title"/>
          </p:nvPr>
        </p:nvSpPr>
        <p:spPr>
          <a:xfrm>
            <a:off x="648569" y="674552"/>
            <a:ext cx="9226950" cy="610716"/>
          </a:xfrm>
        </p:spPr>
        <p:txBody>
          <a:bodyPr/>
          <a:lstStyle/>
          <a:p>
            <a:pPr algn="ctr"/>
            <a:r>
              <a:rPr lang="en-US" sz="3200" b="1" dirty="0">
                <a:latin typeface="Arial" panose="020B0604020202020204" pitchFamily="34" charset="0"/>
                <a:cs typeface="Arial" panose="020B0604020202020204" pitchFamily="34" charset="0"/>
              </a:rPr>
              <a:t>CONCLUSION</a:t>
            </a:r>
            <a:endParaRPr lang="en-US" b="1" dirty="0"/>
          </a:p>
        </p:txBody>
      </p:sp>
      <p:sp>
        <p:nvSpPr>
          <p:cNvPr id="3" name="Content Placeholder 2">
            <a:extLst>
              <a:ext uri="{FF2B5EF4-FFF2-40B4-BE49-F238E27FC236}">
                <a16:creationId xmlns:a16="http://schemas.microsoft.com/office/drawing/2014/main" id="{D2432187-5309-46A5-B573-705EF13421F3}"/>
              </a:ext>
            </a:extLst>
          </p:cNvPr>
          <p:cNvSpPr>
            <a:spLocks noGrp="1"/>
          </p:cNvSpPr>
          <p:nvPr>
            <p:ph idx="1"/>
          </p:nvPr>
        </p:nvSpPr>
        <p:spPr>
          <a:xfrm>
            <a:off x="889199" y="1534947"/>
            <a:ext cx="8918943" cy="4586721"/>
          </a:xfrm>
        </p:spPr>
        <p:txBody>
          <a:bodyPr>
            <a:noAutofit/>
          </a:bodyPr>
          <a:lstStyle/>
          <a:p>
            <a:pPr marL="0" indent="0" algn="just">
              <a:buNone/>
            </a:pPr>
            <a:r>
              <a:rPr lang="en-US" sz="2000" b="0" i="0" dirty="0">
                <a:effectLst/>
                <a:latin typeface="Arial" panose="020B0604020202020204" pitchFamily="34" charset="0"/>
                <a:cs typeface="Arial" panose="020B0604020202020204" pitchFamily="34" charset="0"/>
              </a:rPr>
              <a:t>           This project successfully demonstrates an automated, real-time crowd analysis system utilizing deep learning and computer vision techniques such as YOLO and </a:t>
            </a:r>
            <a:r>
              <a:rPr lang="en-US" sz="2000" b="0" i="0" dirty="0" err="1">
                <a:effectLst/>
                <a:latin typeface="Arial" panose="020B0604020202020204" pitchFamily="34" charset="0"/>
                <a:cs typeface="Arial" panose="020B0604020202020204" pitchFamily="34" charset="0"/>
              </a:rPr>
              <a:t>ByteTrack</a:t>
            </a:r>
            <a:r>
              <a:rPr lang="en-US" sz="2000" b="0" i="0" dirty="0">
                <a:effectLst/>
                <a:latin typeface="Arial" panose="020B0604020202020204" pitchFamily="34" charset="0"/>
                <a:cs typeface="Arial" panose="020B0604020202020204" pitchFamily="34" charset="0"/>
              </a:rPr>
              <a:t>. The system achieves accurate detection, tracking, and zone-based counting of individuals in live video, webcam, and image feeds. By integrating a secure Flask web interface, users are able to upload media, view live analytics, generate heatmaps, and download detailed CSV reports—all contributing to enhanced crowd management and public safety. The clear results and flexible architecture highlight the project’s usefulness across various applications, including event security, urban planning, and real-time monitoring. With continued refinement and advanced analytics, this work lays a strong foundation for future enhancements and broader deployment in smart environments.</a:t>
            </a:r>
            <a:endParaRPr lang="en-US" sz="2000" dirty="0">
              <a:latin typeface="Arial" panose="020B0604020202020204" pitchFamily="34" charset="0"/>
              <a:cs typeface="Arial" panose="020B0604020202020204" pitchFamily="34" charset="0"/>
            </a:endParaRPr>
          </a:p>
        </p:txBody>
      </p:sp>
      <p:pic>
        <p:nvPicPr>
          <p:cNvPr id="4" name="Picture 3">
            <a:extLst>
              <a:ext uri="{FF2B5EF4-FFF2-40B4-BE49-F238E27FC236}">
                <a16:creationId xmlns:a16="http://schemas.microsoft.com/office/drawing/2014/main" id="{2AD9B933-CD33-48C7-ACF8-910463B5C5ED}"/>
              </a:ext>
            </a:extLst>
          </p:cNvPr>
          <p:cNvPicPr>
            <a:picLocks noChangeAspect="1"/>
          </p:cNvPicPr>
          <p:nvPr/>
        </p:nvPicPr>
        <p:blipFill>
          <a:blip r:embed="rId2"/>
          <a:stretch>
            <a:fillRect/>
          </a:stretch>
        </p:blipFill>
        <p:spPr>
          <a:xfrm>
            <a:off x="279132" y="168442"/>
            <a:ext cx="1636295" cy="506110"/>
          </a:xfrm>
          <a:prstGeom prst="rect">
            <a:avLst/>
          </a:prstGeom>
        </p:spPr>
      </p:pic>
    </p:spTree>
    <p:extLst>
      <p:ext uri="{BB962C8B-B14F-4D97-AF65-F5344CB8AC3E}">
        <p14:creationId xmlns:p14="http://schemas.microsoft.com/office/powerpoint/2010/main" val="258076489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TextBox 8">
            <a:extLst>
              <a:ext uri="{FF2B5EF4-FFF2-40B4-BE49-F238E27FC236}">
                <a16:creationId xmlns:a16="http://schemas.microsoft.com/office/drawing/2014/main" id="{A12FF4DF-C5C3-4B50-94C8-7B363268B4BB}"/>
              </a:ext>
            </a:extLst>
          </p:cNvPr>
          <p:cNvSpPr txBox="1"/>
          <p:nvPr/>
        </p:nvSpPr>
        <p:spPr>
          <a:xfrm flipH="1">
            <a:off x="3166711" y="2233061"/>
            <a:ext cx="5197641" cy="2123658"/>
          </a:xfrm>
          <a:prstGeom prst="rect">
            <a:avLst/>
          </a:prstGeom>
          <a:noFill/>
        </p:spPr>
        <p:txBody>
          <a:bodyPr wrap="square" rtlCol="0">
            <a:spAutoFit/>
          </a:bodyPr>
          <a:lstStyle/>
          <a:p>
            <a:r>
              <a:rPr lang="en-US" sz="6600" b="1" dirty="0">
                <a:solidFill>
                  <a:schemeClr val="accent1">
                    <a:lumMod val="75000"/>
                  </a:schemeClr>
                </a:solidFill>
                <a:latin typeface="Arial" panose="020B0604020202020204" pitchFamily="34" charset="0"/>
                <a:cs typeface="Arial" panose="020B0604020202020204" pitchFamily="34" charset="0"/>
              </a:rPr>
              <a:t>THANK </a:t>
            </a:r>
          </a:p>
          <a:p>
            <a:r>
              <a:rPr lang="en-US" sz="6600" b="1" dirty="0">
                <a:solidFill>
                  <a:schemeClr val="accent1">
                    <a:lumMod val="75000"/>
                  </a:schemeClr>
                </a:solidFill>
                <a:latin typeface="Arial" panose="020B0604020202020204" pitchFamily="34" charset="0"/>
                <a:cs typeface="Arial" panose="020B0604020202020204" pitchFamily="34" charset="0"/>
              </a:rPr>
              <a:t>       YOU</a:t>
            </a:r>
          </a:p>
        </p:txBody>
      </p:sp>
      <p:sp>
        <p:nvSpPr>
          <p:cNvPr id="12" name="Rectangle 1">
            <a:extLst>
              <a:ext uri="{FF2B5EF4-FFF2-40B4-BE49-F238E27FC236}">
                <a16:creationId xmlns:a16="http://schemas.microsoft.com/office/drawing/2014/main" id="{428BBAEB-C94A-4DBF-B404-86F3D43E6AE9}"/>
              </a:ext>
            </a:extLst>
          </p:cNvPr>
          <p:cNvSpPr>
            <a:spLocks noChangeArrowheads="1"/>
          </p:cNvSpPr>
          <p:nvPr/>
        </p:nvSpPr>
        <p:spPr bwMode="auto">
          <a:xfrm>
            <a:off x="0" y="0"/>
            <a:ext cx="12192000" cy="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pic>
        <p:nvPicPr>
          <p:cNvPr id="4" name="Picture 3">
            <a:extLst>
              <a:ext uri="{FF2B5EF4-FFF2-40B4-BE49-F238E27FC236}">
                <a16:creationId xmlns:a16="http://schemas.microsoft.com/office/drawing/2014/main" id="{4A42E9D3-74C1-46B7-B6B8-F7A4E07D5505}"/>
              </a:ext>
            </a:extLst>
          </p:cNvPr>
          <p:cNvPicPr>
            <a:picLocks noChangeAspect="1"/>
          </p:cNvPicPr>
          <p:nvPr/>
        </p:nvPicPr>
        <p:blipFill>
          <a:blip r:embed="rId2"/>
          <a:stretch>
            <a:fillRect/>
          </a:stretch>
        </p:blipFill>
        <p:spPr>
          <a:xfrm>
            <a:off x="279132" y="226193"/>
            <a:ext cx="1636295" cy="506110"/>
          </a:xfrm>
          <a:prstGeom prst="rect">
            <a:avLst/>
          </a:prstGeom>
        </p:spPr>
      </p:pic>
    </p:spTree>
    <p:extLst>
      <p:ext uri="{BB962C8B-B14F-4D97-AF65-F5344CB8AC3E}">
        <p14:creationId xmlns:p14="http://schemas.microsoft.com/office/powerpoint/2010/main" val="3085928495"/>
      </p:ext>
    </p:extLst>
  </p:cSld>
  <p:clrMapOvr>
    <a:masterClrMapping/>
  </p:clrMapOvr>
</p:sld>
</file>

<file path=ppt/theme/theme1.xml><?xml version="1.0" encoding="utf-8"?>
<a:theme xmlns:a="http://schemas.openxmlformats.org/drawingml/2006/main" name="Facet">
  <a:themeElements>
    <a:clrScheme name="Facet">
      <a:dk1>
        <a:sysClr val="windowText" lastClr="000000"/>
      </a:dk1>
      <a:lt1>
        <a:sysClr val="window" lastClr="FFFFFF"/>
      </a:lt1>
      <a:dk2>
        <a:srgbClr val="2C3C43"/>
      </a:dk2>
      <a:lt2>
        <a:srgbClr val="EBEBEB"/>
      </a:lt2>
      <a:accent1>
        <a:srgbClr val="F496CB"/>
      </a:accent1>
      <a:accent2>
        <a:srgbClr val="BC356F"/>
      </a:accent2>
      <a:accent3>
        <a:srgbClr val="E65331"/>
      </a:accent3>
      <a:accent4>
        <a:srgbClr val="F27E19"/>
      </a:accent4>
      <a:accent5>
        <a:srgbClr val="F2AC19"/>
      </a:accent5>
      <a:accent6>
        <a:srgbClr val="BC80E0"/>
      </a:accent6>
      <a:hlink>
        <a:srgbClr val="EF5285"/>
      </a:hlink>
      <a:folHlink>
        <a:srgbClr val="F77F90"/>
      </a:folHlink>
    </a:clrScheme>
    <a:fontScheme name="Facet">
      <a:majorFont>
        <a:latin typeface="Trebuchet MS" panose="020B0603020202020204"/>
        <a:ea typeface=""/>
        <a:cs typeface=""/>
        <a:font script="Jpan" typeface="メイリオ"/>
        <a:font script="Hang" typeface="맑은 고딕"/>
        <a:font script="Hans" typeface="方正姚体"/>
        <a:font script="Hant" typeface="微軟正黑體"/>
        <a:font script="Arab" typeface="Tahoma"/>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Trebuchet MS" panose="020B0603020202020204"/>
        <a:ea typeface=""/>
        <a:cs typeface=""/>
        <a:font script="Jpan" typeface="メイリオ"/>
        <a:font script="Hang" typeface="HY그래픽M"/>
        <a:font script="Hans" typeface="华文新魏"/>
        <a:font script="Hant" typeface="微軟正黑體"/>
        <a:font script="Arab" typeface="Tahoma"/>
        <a:font script="Hebr" typeface="Gisha"/>
        <a:font script="Thai" typeface="Iris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Facet">
      <a:fillStyleLst>
        <a:solidFill>
          <a:schemeClr val="phClr"/>
        </a:solidFill>
        <a:gradFill rotWithShape="1">
          <a:gsLst>
            <a:gs pos="0">
              <a:schemeClr val="phClr">
                <a:tint val="65000"/>
                <a:lumMod val="110000"/>
              </a:schemeClr>
            </a:gs>
            <a:gs pos="88000">
              <a:schemeClr val="phClr">
                <a:tint val="90000"/>
              </a:schemeClr>
            </a:gs>
          </a:gsLst>
          <a:lin ang="5400000" scaled="0"/>
        </a:gradFill>
        <a:gradFill rotWithShape="1">
          <a:gsLst>
            <a:gs pos="0">
              <a:schemeClr val="phClr">
                <a:tint val="96000"/>
                <a:lumMod val="100000"/>
              </a:schemeClr>
            </a:gs>
            <a:gs pos="78000">
              <a:schemeClr val="phClr">
                <a:shade val="94000"/>
                <a:lumMod val="94000"/>
              </a:schemeClr>
            </a:gs>
          </a:gsLst>
          <a:lin ang="5400000" scaled="0"/>
        </a:gradFill>
      </a:fillStyleLst>
      <a:lnStyleLst>
        <a:ln w="12700" cap="rnd" cmpd="sng" algn="ctr">
          <a:solidFill>
            <a:schemeClr val="phClr"/>
          </a:solidFill>
          <a:prstDash val="solid"/>
        </a:ln>
        <a:ln w="19050" cap="rnd" cmpd="sng" algn="ctr">
          <a:solidFill>
            <a:schemeClr val="phClr"/>
          </a:solidFill>
          <a:prstDash val="solid"/>
        </a:ln>
        <a:ln w="25400" cap="rnd" cmpd="sng" algn="ctr">
          <a:solidFill>
            <a:schemeClr val="phClr"/>
          </a:solidFill>
          <a:prstDash val="solid"/>
        </a:ln>
      </a:lnStyleLst>
      <a:effectStyleLst>
        <a:effectStyle>
          <a:effectLst/>
        </a:effectStyle>
        <a:effectStyle>
          <a:effectLst>
            <a:outerShdw blurRad="38100" dist="25400" dir="5400000" rotWithShape="0">
              <a:srgbClr val="000000">
                <a:alpha val="35000"/>
              </a:srgbClr>
            </a:outerShdw>
          </a:effectLst>
        </a:effectStyle>
        <a:effectStyle>
          <a:effectLst>
            <a:outerShdw blurRad="50800" dist="38100" dir="5400000" rotWithShape="0">
              <a:srgbClr val="000000">
                <a:alpha val="35000"/>
              </a:srgbClr>
            </a:outerShdw>
          </a:effectLst>
          <a:scene3d>
            <a:camera prst="orthographicFront">
              <a:rot lat="0" lon="0" rev="0"/>
            </a:camera>
            <a:lightRig rig="threePt" dir="tl"/>
          </a:scene3d>
          <a:sp3d prstMaterial="plastic">
            <a:bevelT w="0" h="0"/>
          </a:sp3d>
        </a:effectStyle>
      </a:effectStyleLst>
      <a:bgFillStyleLst>
        <a:solidFill>
          <a:schemeClr val="phClr"/>
        </a:solidFill>
        <a:gradFill rotWithShape="1">
          <a:gsLst>
            <a:gs pos="0">
              <a:schemeClr val="phClr">
                <a:tint val="90000"/>
                <a:lumMod val="104000"/>
              </a:schemeClr>
            </a:gs>
            <a:gs pos="94000">
              <a:schemeClr val="phClr">
                <a:shade val="96000"/>
                <a:lumMod val="82000"/>
              </a:schemeClr>
            </a:gs>
          </a:gsLst>
          <a:lin ang="5400000" scaled="0"/>
        </a:gradFill>
        <a:gradFill rotWithShape="1">
          <a:gsLst>
            <a:gs pos="0">
              <a:schemeClr val="phClr">
                <a:tint val="90000"/>
                <a:lumMod val="110000"/>
              </a:schemeClr>
            </a:gs>
            <a:gs pos="100000">
              <a:schemeClr val="phClr">
                <a:shade val="94000"/>
                <a:lumMod val="96000"/>
              </a:schemeClr>
            </a:gs>
          </a:gsLst>
          <a:path path="circle">
            <a:fillToRect l="50000" t="50000" r="100000" b="100000"/>
          </a:path>
        </a:gradFill>
      </a:bgFillStyleLst>
    </a:fmtScheme>
  </a:themeElements>
  <a:objectDefaults/>
  <a:extraClrSchemeLst/>
  <a:extLst>
    <a:ext uri="{05A4C25C-085E-4340-85A3-A5531E510DB2}">
      <thm15:themeFamily xmlns:thm15="http://schemas.microsoft.com/office/thememl/2012/main" name="Facet" id="{C0C680CD-088A-49FC-A102-D699147F32B2}" vid="{23659B44-6E34-4CE8-8F0D-387DA7996826}"/>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ct:contentTypeSchema xmlns:ct="http://schemas.microsoft.com/office/2006/metadata/contentType" xmlns:ma="http://schemas.microsoft.com/office/2006/metadata/properties/metaAttributes" ct:_="" ma:_="" ma:contentTypeName="Document" ma:contentTypeID="0x01010079F111ED35F8CC479449609E8A0923A6" ma:contentTypeVersion="12" ma:contentTypeDescription="Create a new document." ma:contentTypeScope="" ma:versionID="a410dd7f93c95333ffa1b60ed6adedd1">
  <xsd:schema xmlns:xsd="http://www.w3.org/2001/XMLSchema" xmlns:xs="http://www.w3.org/2001/XMLSchema" xmlns:p="http://schemas.microsoft.com/office/2006/metadata/properties" xmlns:ns2="71af3243-3dd4-4a8d-8c0d-dd76da1f02a5" xmlns:ns3="16c05727-aa75-4e4a-9b5f-8a80a1165891" targetNamespace="http://schemas.microsoft.com/office/2006/metadata/properties" ma:root="true" ma:fieldsID="a936d9baba76aa3866493feff160faab" ns2:_="" ns3:_="">
    <xsd:import namespace="71af3243-3dd4-4a8d-8c0d-dd76da1f02a5"/>
    <xsd:import namespace="16c05727-aa75-4e4a-9b5f-8a80a1165891"/>
    <xsd:element name="properties">
      <xsd:complexType>
        <xsd:sequence>
          <xsd:element name="documentManagement">
            <xsd:complexType>
              <xsd:all>
                <xsd:element ref="ns2:MediaServiceMetadata" minOccurs="0"/>
                <xsd:element ref="ns2:MediaServiceFastMetadata" minOccurs="0"/>
                <xsd:element ref="ns2:MediaServiceOCR" minOccurs="0"/>
                <xsd:element ref="ns2:MediaServiceAutoTags" minOccurs="0"/>
                <xsd:element ref="ns2:MediaServiceEventHashCode" minOccurs="0"/>
                <xsd:element ref="ns2:MediaServiceGenerationTime" minOccurs="0"/>
                <xsd:element ref="ns3:SharedWithUsers" minOccurs="0"/>
                <xsd:element ref="ns3:SharedWithDetails" minOccurs="0"/>
                <xsd:element ref="ns2:MediaServiceAutoKeyPoints" minOccurs="0"/>
                <xsd:element ref="ns2:MediaServiceKeyPoints" minOccurs="0"/>
                <xsd:element ref="ns2:MediaServiceDateTaken" minOccurs="0"/>
                <xsd:element ref="ns2:Statu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71af3243-3dd4-4a8d-8c0d-dd76da1f02a5"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OCR" ma:index="10" nillable="true" ma:displayName="MediaServiceOCR" ma:internalName="MediaServiceOCR" ma:readOnly="true">
      <xsd:simpleType>
        <xsd:restriction base="dms:Note">
          <xsd:maxLength value="255"/>
        </xsd:restriction>
      </xsd:simpleType>
    </xsd:element>
    <xsd:element name="MediaServiceAutoTags" ma:index="11" nillable="true" ma:displayName="MediaServiceAutoTags" ma:internalName="MediaServiceAutoTags" ma:readOnly="true">
      <xsd:simpleType>
        <xsd:restriction base="dms:Text"/>
      </xsd:simpleType>
    </xsd:element>
    <xsd:element name="MediaServiceEventHashCode" ma:index="12" nillable="true" ma:displayName="MediaServiceEventHashCode" ma:hidden="true" ma:internalName="MediaServiceEventHashCode" ma:readOnly="true">
      <xsd:simpleType>
        <xsd:restriction base="dms:Text"/>
      </xsd:simpleType>
    </xsd:element>
    <xsd:element name="MediaServiceGenerationTime" ma:index="13" nillable="true" ma:displayName="MediaServiceGenerationTime" ma:hidden="true" ma:internalName="MediaServiceGenerationTime" ma:readOnly="true">
      <xsd:simpleType>
        <xsd:restriction base="dms:Text"/>
      </xsd:simpleType>
    </xsd:element>
    <xsd:element name="MediaServiceAutoKeyPoints" ma:index="16" nillable="true" ma:displayName="MediaServiceAutoKeyPoints" ma:hidden="true" ma:internalName="MediaServiceAutoKeyPoints" ma:readOnly="true">
      <xsd:simpleType>
        <xsd:restriction base="dms:Note"/>
      </xsd:simpleType>
    </xsd:element>
    <xsd:element name="MediaServiceKeyPoints" ma:index="17" nillable="true" ma:displayName="KeyPoints" ma:internalName="MediaServiceKeyPoints" ma:readOnly="false">
      <xsd:simpleType>
        <xsd:restriction base="dms:Note">
          <xsd:maxLength value="255"/>
        </xsd:restriction>
      </xsd:simpleType>
    </xsd:element>
    <xsd:element name="MediaServiceDateTaken" ma:index="18" nillable="true" ma:displayName="MediaServiceDateTaken" ma:hidden="true" ma:internalName="MediaServiceDateTaken" ma:readOnly="true">
      <xsd:simpleType>
        <xsd:restriction base="dms:Text"/>
      </xsd:simpleType>
    </xsd:element>
    <xsd:element name="Status" ma:index="19" nillable="true" ma:displayName="Status" ma:default="Not started" ma:format="Dropdown" ma:internalName="Status">
      <xsd:simpleType>
        <xsd:restriction base="dms:Choice">
          <xsd:enumeration value="Not started"/>
          <xsd:enumeration value="In Progress"/>
          <xsd:enumeration value="Completed"/>
        </xsd:restriction>
      </xsd:simpleType>
    </xsd:element>
  </xsd:schema>
  <xsd:schema xmlns:xsd="http://www.w3.org/2001/XMLSchema" xmlns:xs="http://www.w3.org/2001/XMLSchema" xmlns:dms="http://schemas.microsoft.com/office/2006/documentManagement/types" xmlns:pc="http://schemas.microsoft.com/office/infopath/2007/PartnerControls" targetNamespace="16c05727-aa75-4e4a-9b5f-8a80a1165891" elementFormDefault="qualified">
    <xsd:import namespace="http://schemas.microsoft.com/office/2006/documentManagement/types"/>
    <xsd:import namespace="http://schemas.microsoft.com/office/infopath/2007/PartnerControls"/>
    <xsd:element name="SharedWithUsers" ma:index="14"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5" nillable="true" ma:displayName="Shared With Details" ma:internalName="SharedWithDetails" ma:readOnly="true">
      <xsd:simpleType>
        <xsd:restriction base="dms:Note">
          <xsd:maxLength value="255"/>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p:properties xmlns:p="http://schemas.microsoft.com/office/2006/metadata/properties" xmlns:xsi="http://www.w3.org/2001/XMLSchema-instance" xmlns:pc="http://schemas.microsoft.com/office/infopath/2007/PartnerControls">
  <documentManagement>
    <Status xmlns="71af3243-3dd4-4a8d-8c0d-dd76da1f02a5">Not started</Status>
    <MediaServiceKeyPoints xmlns="71af3243-3dd4-4a8d-8c0d-dd76da1f02a5" xsi:nil="true"/>
  </documentManagement>
</p:properties>
</file>

<file path=customXml/itemProps1.xml><?xml version="1.0" encoding="utf-8"?>
<ds:datastoreItem xmlns:ds="http://schemas.openxmlformats.org/officeDocument/2006/customXml" ds:itemID="{927BD4C1-B6B1-4715-ABF9-E660A51A4EA0}">
  <ds:schemaRefs>
    <ds:schemaRef ds:uri="http://schemas.microsoft.com/sharepoint/v3/contenttype/forms"/>
  </ds:schemaRefs>
</ds:datastoreItem>
</file>

<file path=customXml/itemProps2.xml><?xml version="1.0" encoding="utf-8"?>
<ds:datastoreItem xmlns:ds="http://schemas.openxmlformats.org/officeDocument/2006/customXml" ds:itemID="{41E7CA09-9778-4414-AE97-8064B12DA30E}">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71af3243-3dd4-4a8d-8c0d-dd76da1f02a5"/>
    <ds:schemaRef ds:uri="16c05727-aa75-4e4a-9b5f-8a80a1165891"/>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3.xml><?xml version="1.0" encoding="utf-8"?>
<ds:datastoreItem xmlns:ds="http://schemas.openxmlformats.org/officeDocument/2006/customXml" ds:itemID="{8D289AE2-D2AE-49D1-AFAC-3A79F6794255}">
  <ds:schemaRefs>
    <ds:schemaRef ds:uri="http://schemas.microsoft.com/office/2006/metadata/properties"/>
    <ds:schemaRef ds:uri="http://schemas.microsoft.com/office/infopath/2007/PartnerControls"/>
    <ds:schemaRef ds:uri="71af3243-3dd4-4a8d-8c0d-dd76da1f02a5"/>
  </ds:schemaRefs>
</ds:datastoreItem>
</file>

<file path=docProps/app.xml><?xml version="1.0" encoding="utf-8"?>
<Properties xmlns="http://schemas.openxmlformats.org/officeDocument/2006/extended-properties" xmlns:vt="http://schemas.openxmlformats.org/officeDocument/2006/docPropsVTypes">
  <Template>Facet</Template>
  <TotalTime>2342</TotalTime>
  <Words>1154</Words>
  <Application>Microsoft Office PowerPoint</Application>
  <PresentationFormat>Widescreen</PresentationFormat>
  <Paragraphs>106</Paragraphs>
  <Slides>17</Slides>
  <Notes>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17</vt:i4>
      </vt:variant>
    </vt:vector>
  </HeadingPairs>
  <TitlesOfParts>
    <vt:vector size="22" baseType="lpstr">
      <vt:lpstr>Arial</vt:lpstr>
      <vt:lpstr>Calibri</vt:lpstr>
      <vt:lpstr>Trebuchet MS</vt:lpstr>
      <vt:lpstr>Wingdings 3</vt:lpstr>
      <vt:lpstr>Facet</vt:lpstr>
      <vt:lpstr>Crowd Count</vt:lpstr>
      <vt:lpstr>CONTENTS</vt:lpstr>
      <vt:lpstr>  INTRODUCTION</vt:lpstr>
      <vt:lpstr>PROBLEM STATEMENT</vt:lpstr>
      <vt:lpstr>OBJECTIVES</vt:lpstr>
      <vt:lpstr>PROPOSED MODEL</vt:lpstr>
      <vt:lpstr>TOOLS AND TECHNOLOGIES </vt:lpstr>
      <vt:lpstr>PowerPoint Presentation</vt:lpstr>
      <vt:lpstr>RESULTS</vt:lpstr>
      <vt:lpstr>PowerPoint Presentation</vt:lpstr>
      <vt:lpstr>PowerPoint Presentation</vt:lpstr>
      <vt:lpstr>PowerPoint Presentation</vt:lpstr>
      <vt:lpstr>PowerPoint Presentation</vt:lpstr>
      <vt:lpstr>APPLICATIONS</vt:lpstr>
      <vt:lpstr>FUTURE ENHANCEMENT</vt:lpstr>
      <vt:lpstr>CONCLUSION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Title Lorem Ipsum</dc:title>
  <dc:creator>Shanta Angadageri</dc:creator>
  <cp:lastModifiedBy>Shanta Angadageri</cp:lastModifiedBy>
  <cp:revision>70</cp:revision>
  <dcterms:created xsi:type="dcterms:W3CDTF">2025-11-11T06:01:44Z</dcterms:created>
  <dcterms:modified xsi:type="dcterms:W3CDTF">2025-11-28T16:26:49Z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0x01010079F111ED35F8CC479449609E8A0923A6</vt:lpwstr>
  </property>
</Properties>
</file>