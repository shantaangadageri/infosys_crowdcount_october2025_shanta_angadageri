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7" r:id="rId4"/>
  </p:sldMasterIdLst>
  <p:notesMasterIdLst>
    <p:notesMasterId r:id="rId23"/>
  </p:notesMasterIdLst>
  <p:sldIdLst>
    <p:sldId id="257" r:id="rId5"/>
    <p:sldId id="259" r:id="rId6"/>
    <p:sldId id="260" r:id="rId7"/>
    <p:sldId id="261" r:id="rId8"/>
    <p:sldId id="262" r:id="rId9"/>
    <p:sldId id="263" r:id="rId10"/>
    <p:sldId id="264" r:id="rId11"/>
    <p:sldId id="271" r:id="rId12"/>
    <p:sldId id="265" r:id="rId13"/>
    <p:sldId id="272" r:id="rId14"/>
    <p:sldId id="270" r:id="rId15"/>
    <p:sldId id="269" r:id="rId16"/>
    <p:sldId id="275" r:id="rId17"/>
    <p:sldId id="274" r:id="rId18"/>
    <p:sldId id="266" r:id="rId19"/>
    <p:sldId id="267" r:id="rId20"/>
    <p:sldId id="268"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nta Angadageri" initials="SA" lastIdx="1" clrIdx="0">
    <p:extLst>
      <p:ext uri="{19B8F6BF-5375-455C-9EA6-DF929625EA0E}">
        <p15:presenceInfo xmlns:p15="http://schemas.microsoft.com/office/powerpoint/2012/main" userId="76232d884ffc268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66" d="100"/>
          <a:sy n="66" d="100"/>
        </p:scale>
        <p:origin x="668"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38705-3DB4-43D3-954C-FF18D96387A3}"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4E70AF-355E-4C7C-9D29-F0C25D1BAC6E}" type="slidenum">
              <a:rPr lang="en-US" smtClean="0"/>
              <a:t>‹#›</a:t>
            </a:fld>
            <a:endParaRPr lang="en-US"/>
          </a:p>
        </p:txBody>
      </p:sp>
    </p:spTree>
    <p:extLst>
      <p:ext uri="{BB962C8B-B14F-4D97-AF65-F5344CB8AC3E}">
        <p14:creationId xmlns:p14="http://schemas.microsoft.com/office/powerpoint/2010/main" val="59542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100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2077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50188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22672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7554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6711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9473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2884F1-FFEA-405F-9602-3DCA865EDA4E}" type="datetime1">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95199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8379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0618017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580490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2402354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584388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15980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2989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7200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291B17-9318-49DB-B28B-6E5994AE9581}" type="datetime1">
              <a:rPr lang="en-US" smtClean="0"/>
              <a:t>11/14/2025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85566065"/>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Lst>
  <p:hf sldNum="0" hdr="0" ftr="0" dt="0"/>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46534" y="2764768"/>
            <a:ext cx="10993549" cy="623330"/>
          </a:xfrm>
        </p:spPr>
        <p:txBody>
          <a:bodyPr>
            <a:noAutofit/>
          </a:bodyPr>
          <a:lstStyle/>
          <a:p>
            <a:pPr algn="ctr"/>
            <a:r>
              <a:rPr lang="en-US" sz="4400" b="1" dirty="0">
                <a:solidFill>
                  <a:srgbClr val="1F1F1F"/>
                </a:solidFill>
                <a:effectLst/>
                <a:latin typeface="Arial" panose="020B0604020202020204" pitchFamily="34" charset="0"/>
                <a:cs typeface="Arial" panose="020B0604020202020204" pitchFamily="34" charset="0"/>
              </a:rPr>
              <a:t>Crowd Count</a:t>
            </a:r>
            <a:endParaRPr lang="en-US" sz="44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5AA8E9A-9E4F-4F66-91FC-6BA2FF2D19B4}"/>
              </a:ext>
            </a:extLst>
          </p:cNvPr>
          <p:cNvPicPr>
            <a:picLocks noChangeAspect="1"/>
          </p:cNvPicPr>
          <p:nvPr/>
        </p:nvPicPr>
        <p:blipFill>
          <a:blip r:embed="rId2"/>
          <a:stretch>
            <a:fillRect/>
          </a:stretch>
        </p:blipFill>
        <p:spPr>
          <a:xfrm>
            <a:off x="4313483" y="903617"/>
            <a:ext cx="2791727" cy="1861151"/>
          </a:xfrm>
          <a:prstGeom prst="rect">
            <a:avLst/>
          </a:prstGeom>
        </p:spPr>
      </p:pic>
      <p:sp>
        <p:nvSpPr>
          <p:cNvPr id="10" name="TextBox 9">
            <a:extLst>
              <a:ext uri="{FF2B5EF4-FFF2-40B4-BE49-F238E27FC236}">
                <a16:creationId xmlns:a16="http://schemas.microsoft.com/office/drawing/2014/main" id="{B8B3D932-46C9-4CB0-8362-688CB068E75A}"/>
              </a:ext>
            </a:extLst>
          </p:cNvPr>
          <p:cNvSpPr txBox="1"/>
          <p:nvPr/>
        </p:nvSpPr>
        <p:spPr>
          <a:xfrm>
            <a:off x="250955" y="3467506"/>
            <a:ext cx="1168506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Real-Time People Counting and Crowd Monitoring System</a:t>
            </a:r>
          </a:p>
        </p:txBody>
      </p:sp>
      <p:sp>
        <p:nvSpPr>
          <p:cNvPr id="11" name="TextBox 10">
            <a:extLst>
              <a:ext uri="{FF2B5EF4-FFF2-40B4-BE49-F238E27FC236}">
                <a16:creationId xmlns:a16="http://schemas.microsoft.com/office/drawing/2014/main" id="{8F296AEA-2E22-47A0-8F87-3ECCC0BBEEE4}"/>
              </a:ext>
            </a:extLst>
          </p:cNvPr>
          <p:cNvSpPr txBox="1"/>
          <p:nvPr/>
        </p:nvSpPr>
        <p:spPr>
          <a:xfrm flipH="1">
            <a:off x="1230991" y="4602918"/>
            <a:ext cx="3745269" cy="224676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By: Shanta Angadageri</a:t>
            </a:r>
          </a:p>
          <a:p>
            <a:r>
              <a:rPr lang="en-US" sz="2000" dirty="0">
                <a:latin typeface="Arial" panose="020B0604020202020204" pitchFamily="34" charset="0"/>
                <a:cs typeface="Arial" panose="020B0604020202020204" pitchFamily="34" charset="0"/>
              </a:rPr>
              <a:t>Mentor: Asma</a:t>
            </a:r>
          </a:p>
          <a:p>
            <a:r>
              <a:rPr lang="en-US" sz="2000" dirty="0">
                <a:latin typeface="Arial" panose="020B0604020202020204" pitchFamily="34" charset="0"/>
                <a:cs typeface="Arial" panose="020B0604020202020204" pitchFamily="34" charset="0"/>
              </a:rPr>
              <a:t>Batch: 3</a:t>
            </a:r>
          </a:p>
          <a:p>
            <a:r>
              <a:rPr lang="en-US" sz="2000" dirty="0">
                <a:latin typeface="Arial" panose="020B0604020202020204" pitchFamily="34" charset="0"/>
                <a:cs typeface="Arial" panose="020B0604020202020204" pitchFamily="34" charset="0"/>
              </a:rPr>
              <a:t>Start Date: 22 September 2025</a:t>
            </a:r>
          </a:p>
          <a:p>
            <a:r>
              <a:rPr lang="en-US" sz="2000" dirty="0">
                <a:latin typeface="Arial" panose="020B0604020202020204" pitchFamily="34" charset="0"/>
                <a:cs typeface="Arial" panose="020B0604020202020204" pitchFamily="34" charset="0"/>
              </a:rPr>
              <a:t>End Date: 21 November 2025</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53DB32D-B238-4193-8706-69902575D654}"/>
              </a:ext>
            </a:extLst>
          </p:cNvPr>
          <p:cNvSpPr txBox="1"/>
          <p:nvPr/>
        </p:nvSpPr>
        <p:spPr>
          <a:xfrm>
            <a:off x="887088" y="280287"/>
            <a:ext cx="9644515" cy="646331"/>
          </a:xfrm>
          <a:prstGeom prst="rect">
            <a:avLst/>
          </a:prstGeom>
          <a:noFill/>
        </p:spPr>
        <p:txBody>
          <a:bodyPr wrap="square" rtlCol="0">
            <a:spAutoFit/>
          </a:bodyPr>
          <a:lstStyle/>
          <a:p>
            <a:r>
              <a:rPr lang="en-US" sz="3600" b="1" dirty="0">
                <a:latin typeface="Arial" panose="020B0604020202020204" pitchFamily="34" charset="0"/>
                <a:cs typeface="Arial" panose="020B0604020202020204" pitchFamily="34" charset="0"/>
              </a:rPr>
              <a:t>Infosys Springboard Virtual Internship 6.0</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C2E2-C77A-4A2C-9F86-E825C1B2D16E}"/>
              </a:ext>
            </a:extLst>
          </p:cNvPr>
          <p:cNvSpPr>
            <a:spLocks noGrp="1"/>
          </p:cNvSpPr>
          <p:nvPr>
            <p:ph type="title"/>
          </p:nvPr>
        </p:nvSpPr>
        <p:spPr>
          <a:xfrm>
            <a:off x="581192" y="654518"/>
            <a:ext cx="11029616" cy="658842"/>
          </a:xfrm>
        </p:spPr>
        <p:txBody>
          <a:bodyPr>
            <a:normAutofit/>
          </a:bodyPr>
          <a:lstStyle/>
          <a:p>
            <a:r>
              <a:rPr lang="en-US" sz="3200" b="1" cap="none" dirty="0"/>
              <a:t>      </a:t>
            </a:r>
            <a:r>
              <a:rPr lang="en-US" sz="3200" b="1" cap="none" dirty="0">
                <a:latin typeface="Arial" panose="020B0604020202020204" pitchFamily="34" charset="0"/>
                <a:cs typeface="Arial" panose="020B0604020202020204" pitchFamily="34" charset="0"/>
              </a:rPr>
              <a:t>CONTENTS</a:t>
            </a:r>
          </a:p>
        </p:txBody>
      </p:sp>
      <p:sp>
        <p:nvSpPr>
          <p:cNvPr id="3" name="Content Placeholder 2">
            <a:extLst>
              <a:ext uri="{FF2B5EF4-FFF2-40B4-BE49-F238E27FC236}">
                <a16:creationId xmlns:a16="http://schemas.microsoft.com/office/drawing/2014/main" id="{1BBB06B7-C279-4373-B622-CDE165E32414}"/>
              </a:ext>
            </a:extLst>
          </p:cNvPr>
          <p:cNvSpPr>
            <a:spLocks noGrp="1"/>
          </p:cNvSpPr>
          <p:nvPr>
            <p:ph idx="1"/>
          </p:nvPr>
        </p:nvSpPr>
        <p:spPr>
          <a:xfrm>
            <a:off x="1091330" y="1428863"/>
            <a:ext cx="10420485" cy="5183693"/>
          </a:xfrm>
        </p:spPr>
        <p:txBody>
          <a:bodyPr>
            <a:noAutofit/>
          </a:bodyPr>
          <a:lstStyle/>
          <a:p>
            <a:r>
              <a:rPr lang="en-US" sz="2400" dirty="0">
                <a:latin typeface="Arial" panose="020B0604020202020204" pitchFamily="34" charset="0"/>
                <a:cs typeface="Arial" panose="020B0604020202020204" pitchFamily="34" charset="0"/>
              </a:rPr>
              <a:t>Introduction</a:t>
            </a:r>
          </a:p>
          <a:p>
            <a:r>
              <a:rPr lang="en-US" sz="2400" dirty="0">
                <a:latin typeface="Arial" panose="020B0604020202020204" pitchFamily="34" charset="0"/>
                <a:cs typeface="Arial" panose="020B0604020202020204" pitchFamily="34" charset="0"/>
              </a:rPr>
              <a:t>Problem Statement</a:t>
            </a:r>
          </a:p>
          <a:p>
            <a:r>
              <a:rPr lang="en-US" sz="2400" dirty="0">
                <a:latin typeface="Arial" panose="020B0604020202020204" pitchFamily="34" charset="0"/>
                <a:cs typeface="Arial" panose="020B0604020202020204" pitchFamily="34" charset="0"/>
              </a:rPr>
              <a:t>Objectives</a:t>
            </a:r>
          </a:p>
          <a:p>
            <a:r>
              <a:rPr lang="en-US" sz="2400" dirty="0">
                <a:latin typeface="Arial" panose="020B0604020202020204" pitchFamily="34" charset="0"/>
                <a:cs typeface="Arial" panose="020B0604020202020204" pitchFamily="34" charset="0"/>
              </a:rPr>
              <a:t>Proposed Model</a:t>
            </a:r>
          </a:p>
          <a:p>
            <a:r>
              <a:rPr lang="en-US" sz="2400" dirty="0">
                <a:latin typeface="Arial" panose="020B0604020202020204" pitchFamily="34" charset="0"/>
                <a:cs typeface="Arial" panose="020B0604020202020204" pitchFamily="34" charset="0"/>
              </a:rPr>
              <a:t>Tools and Technologies </a:t>
            </a:r>
          </a:p>
          <a:p>
            <a:r>
              <a:rPr lang="en-US" sz="2400" dirty="0">
                <a:latin typeface="Arial" panose="020B0604020202020204" pitchFamily="34" charset="0"/>
                <a:cs typeface="Arial" panose="020B0604020202020204" pitchFamily="34" charset="0"/>
              </a:rPr>
              <a:t>Results</a:t>
            </a:r>
          </a:p>
          <a:p>
            <a:r>
              <a:rPr lang="en-US" sz="2400" dirty="0">
                <a:latin typeface="Arial" panose="020B0604020202020204" pitchFamily="34" charset="0"/>
                <a:cs typeface="Arial" panose="020B0604020202020204" pitchFamily="34" charset="0"/>
              </a:rPr>
              <a:t>Applications</a:t>
            </a:r>
          </a:p>
          <a:p>
            <a:r>
              <a:rPr lang="en-US" sz="2400" dirty="0">
                <a:latin typeface="Arial" panose="020B0604020202020204" pitchFamily="34" charset="0"/>
                <a:cs typeface="Arial" panose="020B0604020202020204" pitchFamily="34" charset="0"/>
              </a:rPr>
              <a:t>Future Enhancement</a:t>
            </a:r>
          </a:p>
          <a:p>
            <a:r>
              <a:rPr lang="en-US" sz="2400" dirty="0">
                <a:latin typeface="Arial" panose="020B0604020202020204" pitchFamily="34" charset="0"/>
                <a:cs typeface="Arial" panose="020B0604020202020204" pitchFamily="34" charset="0"/>
              </a:rPr>
              <a:t>Conclusion</a:t>
            </a:r>
          </a:p>
        </p:txBody>
      </p:sp>
    </p:spTree>
    <p:extLst>
      <p:ext uri="{BB962C8B-B14F-4D97-AF65-F5344CB8AC3E}">
        <p14:creationId xmlns:p14="http://schemas.microsoft.com/office/powerpoint/2010/main" val="3337105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E445D-C0D0-4506-8932-8E58E0655C3C}"/>
              </a:ext>
            </a:extLst>
          </p:cNvPr>
          <p:cNvSpPr>
            <a:spLocks noGrp="1"/>
          </p:cNvSpPr>
          <p:nvPr>
            <p:ph type="title"/>
          </p:nvPr>
        </p:nvSpPr>
        <p:spPr>
          <a:xfrm>
            <a:off x="465690" y="668731"/>
            <a:ext cx="11029616" cy="697343"/>
          </a:xfrm>
        </p:spPr>
        <p:txBody>
          <a:bodyPr>
            <a:normAutofit/>
          </a:bodyPr>
          <a:lstStyle/>
          <a:p>
            <a:r>
              <a:rPr lang="en-US" sz="3200" b="1" dirty="0">
                <a:latin typeface="Arial" panose="020B0604020202020204" pitchFamily="34" charset="0"/>
                <a:cs typeface="Arial" panose="020B0604020202020204" pitchFamily="34" charset="0"/>
              </a:rPr>
              <a:t>  INTRODUCTION</a:t>
            </a:r>
            <a:endParaRPr lang="en-US" sz="3200" b="1" dirty="0"/>
          </a:p>
        </p:txBody>
      </p:sp>
      <p:sp>
        <p:nvSpPr>
          <p:cNvPr id="3" name="Content Placeholder 2">
            <a:extLst>
              <a:ext uri="{FF2B5EF4-FFF2-40B4-BE49-F238E27FC236}">
                <a16:creationId xmlns:a16="http://schemas.microsoft.com/office/drawing/2014/main" id="{2F9C66F7-CD23-4659-BC23-5F7DC28F3795}"/>
              </a:ext>
            </a:extLst>
          </p:cNvPr>
          <p:cNvSpPr>
            <a:spLocks noGrp="1"/>
          </p:cNvSpPr>
          <p:nvPr>
            <p:ph idx="1"/>
          </p:nvPr>
        </p:nvSpPr>
        <p:spPr>
          <a:xfrm>
            <a:off x="847023" y="1819176"/>
            <a:ext cx="8903370" cy="4175426"/>
          </a:xfrm>
        </p:spPr>
        <p:txBody>
          <a:bodyPr numCol="1">
            <a:noAutofit/>
          </a:bodyPr>
          <a:lstStyle/>
          <a:p>
            <a:pPr marL="0" indent="0" algn="just">
              <a:buNone/>
            </a:pPr>
            <a:r>
              <a:rPr lang="en-US" sz="2400" b="0" i="0" dirty="0">
                <a:effectLst/>
                <a:latin typeface="Arial" panose="020B0604020202020204" pitchFamily="34" charset="0"/>
                <a:cs typeface="Arial" panose="020B0604020202020204" pitchFamily="34" charset="0"/>
              </a:rPr>
              <a:t>                  This project is a real-time crowd and video analysis web application built using Flask and advanced computer vision models such as YOLO combined with </a:t>
            </a:r>
            <a:r>
              <a:rPr lang="en-US" sz="2400" b="0" i="0" dirty="0" err="1">
                <a:effectLst/>
                <a:latin typeface="Arial" panose="020B0604020202020204" pitchFamily="34" charset="0"/>
                <a:cs typeface="Arial" panose="020B0604020202020204" pitchFamily="34" charset="0"/>
              </a:rPr>
              <a:t>ByteTrack</a:t>
            </a:r>
            <a:r>
              <a:rPr lang="en-US" sz="2400" b="0" i="0" dirty="0">
                <a:effectLst/>
                <a:latin typeface="Arial" panose="020B0604020202020204" pitchFamily="34" charset="0"/>
                <a:cs typeface="Arial" panose="020B0604020202020204" pitchFamily="34" charset="0"/>
              </a:rPr>
              <a:t> for tracking individuals. It enables users to securely upload videos and images for detailed crowd monitoring, providing live video streams annotated with detection data, zone-based counting, and predictive alerts. The system also features dynamic data visualization through charts, heatmaps, and downloadable reports, delivering actionable insights to enhance public safety and operational efficiency in crowded environments.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8361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7327-C4E2-4465-87F9-57A99B934137}"/>
              </a:ext>
            </a:extLst>
          </p:cNvPr>
          <p:cNvSpPr>
            <a:spLocks noGrp="1"/>
          </p:cNvSpPr>
          <p:nvPr>
            <p:ph type="title"/>
          </p:nvPr>
        </p:nvSpPr>
        <p:spPr>
          <a:xfrm>
            <a:off x="898715" y="551848"/>
            <a:ext cx="8596668" cy="834189"/>
          </a:xfrm>
        </p:spPr>
        <p:txBody>
          <a:bodyPr>
            <a:normAutofit/>
          </a:bodyPr>
          <a:lstStyle/>
          <a:p>
            <a:r>
              <a:rPr lang="en-US" sz="3200" b="1" dirty="0">
                <a:latin typeface="Arial" panose="020B0604020202020204" pitchFamily="34" charset="0"/>
                <a:cs typeface="Arial" panose="020B0604020202020204" pitchFamily="34" charset="0"/>
              </a:rPr>
              <a:t>PROBLEM STATEMENT</a:t>
            </a:r>
            <a:endParaRPr lang="en-US" sz="3200" b="1" dirty="0"/>
          </a:p>
        </p:txBody>
      </p:sp>
      <p:sp>
        <p:nvSpPr>
          <p:cNvPr id="3" name="Content Placeholder 2">
            <a:extLst>
              <a:ext uri="{FF2B5EF4-FFF2-40B4-BE49-F238E27FC236}">
                <a16:creationId xmlns:a16="http://schemas.microsoft.com/office/drawing/2014/main" id="{E5460A2D-491E-463F-9848-7B4726049108}"/>
              </a:ext>
            </a:extLst>
          </p:cNvPr>
          <p:cNvSpPr>
            <a:spLocks noGrp="1"/>
          </p:cNvSpPr>
          <p:nvPr>
            <p:ph idx="1"/>
          </p:nvPr>
        </p:nvSpPr>
        <p:spPr>
          <a:xfrm>
            <a:off x="898715" y="1765953"/>
            <a:ext cx="8596668" cy="4394215"/>
          </a:xfrm>
        </p:spPr>
        <p:txBody>
          <a:bodyPr>
            <a:noAutofit/>
          </a:bodyPr>
          <a:lstStyle/>
          <a:p>
            <a:pPr marL="0" indent="0" algn="just">
              <a:buNone/>
            </a:pPr>
            <a:r>
              <a:rPr lang="en-US" sz="2400" b="0" i="0" dirty="0">
                <a:effectLst/>
                <a:latin typeface="Arial" panose="020B0604020202020204" pitchFamily="34" charset="0"/>
                <a:cs typeface="Arial" panose="020B0604020202020204" pitchFamily="34" charset="0"/>
              </a:rPr>
              <a:t>                Managing and ensuring safety in crowded public spaces is a complex challenge, especially with increasing populations worldwide. Traditional manual monitoring methods are labor-intensive, error-prone, and often ineffective in real-time scenarios. There is a critical need for an automated, intelligent system that can accurately detect, track, and analyze crowd density and movement in real time to prevent overcrowding, reduce risks, and enable timely interventions. This project addresses these challenges by combining computer vision with web technologies to provide an efficient, scalable crowd analysis and alert system.</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246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7A46A-54C3-4D17-981E-49464BA0A043}"/>
              </a:ext>
            </a:extLst>
          </p:cNvPr>
          <p:cNvSpPr>
            <a:spLocks noGrp="1"/>
          </p:cNvSpPr>
          <p:nvPr>
            <p:ph type="title"/>
          </p:nvPr>
        </p:nvSpPr>
        <p:spPr>
          <a:xfrm>
            <a:off x="581192" y="346510"/>
            <a:ext cx="11029616" cy="723345"/>
          </a:xfrm>
        </p:spPr>
        <p:txBody>
          <a:bodyPr>
            <a:normAutofit/>
          </a:bodyPr>
          <a:lstStyle/>
          <a:p>
            <a:r>
              <a:rPr lang="en-US" sz="3200" b="1" dirty="0">
                <a:latin typeface="Arial" panose="020B0604020202020204" pitchFamily="34" charset="0"/>
                <a:cs typeface="Arial" panose="020B0604020202020204" pitchFamily="34" charset="0"/>
              </a:rPr>
              <a:t>OBJECTIVES</a:t>
            </a:r>
          </a:p>
        </p:txBody>
      </p:sp>
      <p:sp>
        <p:nvSpPr>
          <p:cNvPr id="3" name="Content Placeholder 2">
            <a:extLst>
              <a:ext uri="{FF2B5EF4-FFF2-40B4-BE49-F238E27FC236}">
                <a16:creationId xmlns:a16="http://schemas.microsoft.com/office/drawing/2014/main" id="{CC5316EB-ADC8-4B0B-9755-D4B609E298C0}"/>
              </a:ext>
            </a:extLst>
          </p:cNvPr>
          <p:cNvSpPr>
            <a:spLocks noGrp="1"/>
          </p:cNvSpPr>
          <p:nvPr>
            <p:ph idx="1"/>
          </p:nvPr>
        </p:nvSpPr>
        <p:spPr>
          <a:xfrm>
            <a:off x="715833" y="1249373"/>
            <a:ext cx="9592823" cy="5156239"/>
          </a:xfrm>
        </p:spPr>
        <p:txBody>
          <a:bodyPr>
            <a:noAutofit/>
          </a:bodyPr>
          <a:lstStyle/>
          <a:p>
            <a:pPr algn="just"/>
            <a:r>
              <a:rPr lang="en-US" sz="2400" b="0" i="0" dirty="0">
                <a:effectLst/>
                <a:latin typeface="Arial" panose="020B0604020202020204" pitchFamily="34" charset="0"/>
                <a:cs typeface="Arial" panose="020B0604020202020204" pitchFamily="34" charset="0"/>
              </a:rPr>
              <a:t>To Detection and Tracking using YOLOv8 model with </a:t>
            </a:r>
            <a:r>
              <a:rPr lang="en-US" sz="2400" b="0" i="0" dirty="0" err="1">
                <a:effectLst/>
                <a:latin typeface="Arial" panose="020B0604020202020204" pitchFamily="34" charset="0"/>
                <a:cs typeface="Arial" panose="020B0604020202020204" pitchFamily="34" charset="0"/>
              </a:rPr>
              <a:t>ByteTrack</a:t>
            </a:r>
            <a:r>
              <a:rPr lang="en-US" sz="2400" b="0" i="0" dirty="0">
                <a:effectLst/>
                <a:latin typeface="Arial" panose="020B0604020202020204" pitchFamily="34" charset="0"/>
                <a:cs typeface="Arial" panose="020B0604020202020204" pitchFamily="34" charset="0"/>
              </a:rPr>
              <a:t> for real-time detection and tracking of people in uploaded videos and webcam streams.</a:t>
            </a:r>
          </a:p>
          <a:p>
            <a:pPr algn="just"/>
            <a:r>
              <a:rPr lang="en-US" sz="2400" b="0" i="0" dirty="0">
                <a:effectLst/>
                <a:latin typeface="Arial" panose="020B0604020202020204" pitchFamily="34" charset="0"/>
                <a:cs typeface="Arial" panose="020B0604020202020204" pitchFamily="34" charset="0"/>
              </a:rPr>
              <a:t>To enable zone-based crowd analysis, tracking density and movement within defined regions and provide timely alerts</a:t>
            </a:r>
          </a:p>
          <a:p>
            <a:pPr algn="just"/>
            <a:r>
              <a:rPr lang="en-US" sz="2400" b="0" i="0" dirty="0">
                <a:effectLst/>
                <a:latin typeface="Arial" panose="020B0604020202020204" pitchFamily="34" charset="0"/>
                <a:cs typeface="Arial" panose="020B0604020202020204" pitchFamily="34" charset="0"/>
              </a:rPr>
              <a:t>To Build a secure role-based access control for the admin that allows for user management. </a:t>
            </a:r>
          </a:p>
          <a:p>
            <a:pPr algn="just"/>
            <a:r>
              <a:rPr lang="en-US" sz="2400" b="0" i="0" dirty="0">
                <a:effectLst/>
                <a:latin typeface="Arial" panose="020B0604020202020204" pitchFamily="34" charset="0"/>
                <a:cs typeface="Arial" panose="020B0604020202020204" pitchFamily="34" charset="0"/>
              </a:rPr>
              <a:t>Provide dynamic visualizations including bar charts, line charts, and heatmaps that illustrate crowd trends over time, empowering users to analyze and understand crowd behavior.</a:t>
            </a:r>
          </a:p>
          <a:p>
            <a:pPr algn="just"/>
            <a:r>
              <a:rPr lang="en-US" sz="2400" b="0" i="0" dirty="0">
                <a:effectLst/>
                <a:latin typeface="Arial" panose="020B0604020202020204" pitchFamily="34" charset="0"/>
                <a:cs typeface="Arial" panose="020B0604020202020204" pitchFamily="34" charset="0"/>
              </a:rPr>
              <a:t>Allow users to download  CSV files containing detailed crowd analysis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4854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6912-4BDF-4FCC-946E-68EDFE30F843}"/>
              </a:ext>
            </a:extLst>
          </p:cNvPr>
          <p:cNvSpPr>
            <a:spLocks noGrp="1"/>
          </p:cNvSpPr>
          <p:nvPr>
            <p:ph type="title"/>
          </p:nvPr>
        </p:nvSpPr>
        <p:spPr>
          <a:xfrm>
            <a:off x="157681" y="83998"/>
            <a:ext cx="4221814" cy="706969"/>
          </a:xfrm>
        </p:spPr>
        <p:txBody>
          <a:bodyPr>
            <a:noAutofit/>
          </a:bodyPr>
          <a:lstStyle/>
          <a:p>
            <a:r>
              <a:rPr lang="en-US" sz="3200" b="1" dirty="0">
                <a:latin typeface="Arial" panose="020B0604020202020204" pitchFamily="34" charset="0"/>
                <a:cs typeface="Arial" panose="020B0604020202020204" pitchFamily="34" charset="0"/>
              </a:rPr>
              <a:t>PROPOSED MODEL</a:t>
            </a:r>
            <a:endParaRPr lang="en-US" sz="3200" b="1" dirty="0"/>
          </a:p>
        </p:txBody>
      </p:sp>
      <p:sp>
        <p:nvSpPr>
          <p:cNvPr id="4" name="Rectangle 3">
            <a:extLst>
              <a:ext uri="{FF2B5EF4-FFF2-40B4-BE49-F238E27FC236}">
                <a16:creationId xmlns:a16="http://schemas.microsoft.com/office/drawing/2014/main" id="{D181C3B0-302C-469C-9324-C175FAB0FF35}"/>
              </a:ext>
            </a:extLst>
          </p:cNvPr>
          <p:cNvSpPr/>
          <p:nvPr/>
        </p:nvSpPr>
        <p:spPr>
          <a:xfrm>
            <a:off x="4061860" y="749338"/>
            <a:ext cx="2220228" cy="64344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Video Input(camera)</a:t>
            </a:r>
          </a:p>
        </p:txBody>
      </p:sp>
      <p:sp>
        <p:nvSpPr>
          <p:cNvPr id="5" name="Rectangle 4">
            <a:extLst>
              <a:ext uri="{FF2B5EF4-FFF2-40B4-BE49-F238E27FC236}">
                <a16:creationId xmlns:a16="http://schemas.microsoft.com/office/drawing/2014/main" id="{C03B7A69-6DB3-4CD8-9EEF-059DBD2EDC05}"/>
              </a:ext>
            </a:extLst>
          </p:cNvPr>
          <p:cNvSpPr/>
          <p:nvPr/>
        </p:nvSpPr>
        <p:spPr>
          <a:xfrm>
            <a:off x="4061860" y="1881389"/>
            <a:ext cx="2220228" cy="49665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Detection(YOLOv8)</a:t>
            </a:r>
          </a:p>
        </p:txBody>
      </p:sp>
      <p:sp>
        <p:nvSpPr>
          <p:cNvPr id="6" name="Rectangle 5">
            <a:extLst>
              <a:ext uri="{FF2B5EF4-FFF2-40B4-BE49-F238E27FC236}">
                <a16:creationId xmlns:a16="http://schemas.microsoft.com/office/drawing/2014/main" id="{4B47CAA1-02A3-42D2-A21E-8F3936B212EB}"/>
              </a:ext>
            </a:extLst>
          </p:cNvPr>
          <p:cNvSpPr/>
          <p:nvPr/>
        </p:nvSpPr>
        <p:spPr>
          <a:xfrm>
            <a:off x="4065068" y="2866656"/>
            <a:ext cx="2220228" cy="49665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Tracking</a:t>
            </a:r>
          </a:p>
        </p:txBody>
      </p:sp>
      <p:sp>
        <p:nvSpPr>
          <p:cNvPr id="7" name="Diamond 6">
            <a:extLst>
              <a:ext uri="{FF2B5EF4-FFF2-40B4-BE49-F238E27FC236}">
                <a16:creationId xmlns:a16="http://schemas.microsoft.com/office/drawing/2014/main" id="{F41E1BBF-6A2B-46BD-A074-E8546BC7C6D9}"/>
              </a:ext>
            </a:extLst>
          </p:cNvPr>
          <p:cNvSpPr/>
          <p:nvPr/>
        </p:nvSpPr>
        <p:spPr>
          <a:xfrm>
            <a:off x="4061860" y="3851922"/>
            <a:ext cx="2220228" cy="1405289"/>
          </a:xfrm>
          <a:prstGeom prst="diamond">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People Counting</a:t>
            </a:r>
          </a:p>
        </p:txBody>
      </p:sp>
      <p:sp>
        <p:nvSpPr>
          <p:cNvPr id="8" name="Rectangle 7">
            <a:extLst>
              <a:ext uri="{FF2B5EF4-FFF2-40B4-BE49-F238E27FC236}">
                <a16:creationId xmlns:a16="http://schemas.microsoft.com/office/drawing/2014/main" id="{58CCE3E2-ED04-4365-90CB-864FCB8784E6}"/>
              </a:ext>
            </a:extLst>
          </p:cNvPr>
          <p:cNvSpPr/>
          <p:nvPr/>
        </p:nvSpPr>
        <p:spPr>
          <a:xfrm>
            <a:off x="6096000" y="5758310"/>
            <a:ext cx="1694046" cy="76326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CSV File</a:t>
            </a:r>
          </a:p>
        </p:txBody>
      </p:sp>
      <p:sp>
        <p:nvSpPr>
          <p:cNvPr id="9" name="Rectangle 8">
            <a:extLst>
              <a:ext uri="{FF2B5EF4-FFF2-40B4-BE49-F238E27FC236}">
                <a16:creationId xmlns:a16="http://schemas.microsoft.com/office/drawing/2014/main" id="{B56C399B-D819-436E-9531-D7F7C8B44146}"/>
              </a:ext>
            </a:extLst>
          </p:cNvPr>
          <p:cNvSpPr/>
          <p:nvPr/>
        </p:nvSpPr>
        <p:spPr>
          <a:xfrm>
            <a:off x="2493176" y="5761690"/>
            <a:ext cx="1694046" cy="76326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Charts</a:t>
            </a:r>
          </a:p>
        </p:txBody>
      </p:sp>
      <p:cxnSp>
        <p:nvCxnSpPr>
          <p:cNvPr id="12" name="Straight Arrow Connector 11">
            <a:extLst>
              <a:ext uri="{FF2B5EF4-FFF2-40B4-BE49-F238E27FC236}">
                <a16:creationId xmlns:a16="http://schemas.microsoft.com/office/drawing/2014/main" id="{374D9E7A-65E6-4D1C-A187-A87FED666454}"/>
              </a:ext>
            </a:extLst>
          </p:cNvPr>
          <p:cNvCxnSpPr>
            <a:cxnSpLocks/>
            <a:stCxn id="5" idx="2"/>
          </p:cNvCxnSpPr>
          <p:nvPr/>
        </p:nvCxnSpPr>
        <p:spPr>
          <a:xfrm>
            <a:off x="5171974" y="2378046"/>
            <a:ext cx="0" cy="488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D64973A-5CEB-4C0A-BC02-6ADDFD7D9036}"/>
              </a:ext>
            </a:extLst>
          </p:cNvPr>
          <p:cNvCxnSpPr>
            <a:cxnSpLocks/>
          </p:cNvCxnSpPr>
          <p:nvPr/>
        </p:nvCxnSpPr>
        <p:spPr>
          <a:xfrm>
            <a:off x="5171974" y="3363313"/>
            <a:ext cx="0" cy="488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23849F-F0EC-45C5-96F1-21FD56C53723}"/>
              </a:ext>
            </a:extLst>
          </p:cNvPr>
          <p:cNvCxnSpPr>
            <a:cxnSpLocks/>
          </p:cNvCxnSpPr>
          <p:nvPr/>
        </p:nvCxnSpPr>
        <p:spPr>
          <a:xfrm>
            <a:off x="5171974" y="1392780"/>
            <a:ext cx="0" cy="488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E03FFCE-60C5-43F9-88E2-3A6F9E2160EE}"/>
              </a:ext>
            </a:extLst>
          </p:cNvPr>
          <p:cNvCxnSpPr>
            <a:cxnSpLocks/>
            <a:endCxn id="9" idx="0"/>
          </p:cNvCxnSpPr>
          <p:nvPr/>
        </p:nvCxnSpPr>
        <p:spPr>
          <a:xfrm flipH="1">
            <a:off x="3340199" y="4859759"/>
            <a:ext cx="1175654" cy="9019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81E3599-0823-4060-9FC5-478C1C5F8175}"/>
              </a:ext>
            </a:extLst>
          </p:cNvPr>
          <p:cNvCxnSpPr>
            <a:cxnSpLocks/>
            <a:endCxn id="8" idx="0"/>
          </p:cNvCxnSpPr>
          <p:nvPr/>
        </p:nvCxnSpPr>
        <p:spPr>
          <a:xfrm>
            <a:off x="5669280" y="4947385"/>
            <a:ext cx="1273743" cy="8109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EDDB623-3804-4378-8C6C-ED0C56BD9F85}"/>
              </a:ext>
            </a:extLst>
          </p:cNvPr>
          <p:cNvSpPr txBox="1"/>
          <p:nvPr/>
        </p:nvSpPr>
        <p:spPr>
          <a:xfrm>
            <a:off x="6250004" y="5126058"/>
            <a:ext cx="1386037" cy="369332"/>
          </a:xfrm>
          <a:prstGeom prst="rect">
            <a:avLst/>
          </a:prstGeom>
          <a:noFill/>
        </p:spPr>
        <p:txBody>
          <a:bodyPr wrap="square" rtlCol="0">
            <a:spAutoFit/>
          </a:bodyPr>
          <a:lstStyle/>
          <a:p>
            <a:r>
              <a:rPr lang="en-US" dirty="0"/>
              <a:t>Download</a:t>
            </a:r>
          </a:p>
        </p:txBody>
      </p:sp>
      <p:sp>
        <p:nvSpPr>
          <p:cNvPr id="11" name="TextBox 10">
            <a:extLst>
              <a:ext uri="{FF2B5EF4-FFF2-40B4-BE49-F238E27FC236}">
                <a16:creationId xmlns:a16="http://schemas.microsoft.com/office/drawing/2014/main" id="{430A1119-88D8-47A9-8908-516D10D8058F}"/>
              </a:ext>
            </a:extLst>
          </p:cNvPr>
          <p:cNvSpPr txBox="1"/>
          <p:nvPr/>
        </p:nvSpPr>
        <p:spPr>
          <a:xfrm>
            <a:off x="2932497" y="5072545"/>
            <a:ext cx="1337912" cy="369332"/>
          </a:xfrm>
          <a:prstGeom prst="rect">
            <a:avLst/>
          </a:prstGeom>
          <a:noFill/>
        </p:spPr>
        <p:txBody>
          <a:bodyPr wrap="square" rtlCol="0">
            <a:spAutoFit/>
          </a:bodyPr>
          <a:lstStyle/>
          <a:p>
            <a:r>
              <a:rPr lang="en-US" dirty="0"/>
              <a:t>Visualize</a:t>
            </a:r>
          </a:p>
        </p:txBody>
      </p:sp>
    </p:spTree>
    <p:extLst>
      <p:ext uri="{BB962C8B-B14F-4D97-AF65-F5344CB8AC3E}">
        <p14:creationId xmlns:p14="http://schemas.microsoft.com/office/powerpoint/2010/main" val="1936754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64706-DFF7-4A1B-A95C-6E8C2BE11E57}"/>
              </a:ext>
            </a:extLst>
          </p:cNvPr>
          <p:cNvSpPr>
            <a:spLocks noGrp="1"/>
          </p:cNvSpPr>
          <p:nvPr>
            <p:ph type="title"/>
          </p:nvPr>
        </p:nvSpPr>
        <p:spPr>
          <a:xfrm>
            <a:off x="465688" y="248748"/>
            <a:ext cx="11029616" cy="567890"/>
          </a:xfrm>
        </p:spPr>
        <p:txBody>
          <a:bodyPr>
            <a:noAutofit/>
          </a:bodyPr>
          <a:lstStyle/>
          <a:p>
            <a:r>
              <a:rPr lang="en-US" sz="3200" b="1" dirty="0">
                <a:latin typeface="Arial" panose="020B0604020202020204" pitchFamily="34" charset="0"/>
                <a:cs typeface="Arial" panose="020B0604020202020204" pitchFamily="34" charset="0"/>
              </a:rPr>
              <a:t>TOOLS AND TECHNOLOGIES </a:t>
            </a:r>
            <a:endParaRPr lang="en-US" sz="3200" b="1" dirty="0"/>
          </a:p>
        </p:txBody>
      </p:sp>
      <p:graphicFrame>
        <p:nvGraphicFramePr>
          <p:cNvPr id="5" name="Table 5">
            <a:extLst>
              <a:ext uri="{FF2B5EF4-FFF2-40B4-BE49-F238E27FC236}">
                <a16:creationId xmlns:a16="http://schemas.microsoft.com/office/drawing/2014/main" id="{090DED6D-A883-403F-A362-C3E0EE59AD3F}"/>
              </a:ext>
            </a:extLst>
          </p:cNvPr>
          <p:cNvGraphicFramePr>
            <a:graphicFrameLocks noGrp="1"/>
          </p:cNvGraphicFramePr>
          <p:nvPr>
            <p:extLst>
              <p:ext uri="{D42A27DB-BD31-4B8C-83A1-F6EECF244321}">
                <p14:modId xmlns:p14="http://schemas.microsoft.com/office/powerpoint/2010/main" val="4233772862"/>
              </p:ext>
            </p:extLst>
          </p:nvPr>
        </p:nvGraphicFramePr>
        <p:xfrm>
          <a:off x="1039527" y="1106905"/>
          <a:ext cx="9538636" cy="5399772"/>
        </p:xfrm>
        <a:graphic>
          <a:graphicData uri="http://schemas.openxmlformats.org/drawingml/2006/table">
            <a:tbl>
              <a:tblPr firstRow="1" bandRow="1">
                <a:tableStyleId>{073A0DAA-6AF3-43AB-8588-CEC1D06C72B9}</a:tableStyleId>
              </a:tblPr>
              <a:tblGrid>
                <a:gridCol w="2332177">
                  <a:extLst>
                    <a:ext uri="{9D8B030D-6E8A-4147-A177-3AD203B41FA5}">
                      <a16:colId xmlns:a16="http://schemas.microsoft.com/office/drawing/2014/main" val="577521546"/>
                    </a:ext>
                  </a:extLst>
                </a:gridCol>
                <a:gridCol w="2180293">
                  <a:extLst>
                    <a:ext uri="{9D8B030D-6E8A-4147-A177-3AD203B41FA5}">
                      <a16:colId xmlns:a16="http://schemas.microsoft.com/office/drawing/2014/main" val="70285938"/>
                    </a:ext>
                  </a:extLst>
                </a:gridCol>
                <a:gridCol w="5026166">
                  <a:extLst>
                    <a:ext uri="{9D8B030D-6E8A-4147-A177-3AD203B41FA5}">
                      <a16:colId xmlns:a16="http://schemas.microsoft.com/office/drawing/2014/main" val="3390586210"/>
                    </a:ext>
                  </a:extLst>
                </a:gridCol>
              </a:tblGrid>
              <a:tr h="771396">
                <a:tc>
                  <a:txBody>
                    <a:bodyPr/>
                    <a:lstStyle/>
                    <a:p>
                      <a:pPr algn="just"/>
                      <a:r>
                        <a:rPr lang="en-US" sz="2000" dirty="0">
                          <a:solidFill>
                            <a:schemeClr val="tx1"/>
                          </a:solidFill>
                          <a:latin typeface="Arial" panose="020B0604020202020204" pitchFamily="34" charset="0"/>
                          <a:cs typeface="Arial" panose="020B0604020202020204" pitchFamily="34" charset="0"/>
                        </a:rPr>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dirty="0">
                          <a:solidFill>
                            <a:schemeClr val="tx1">
                              <a:lumMod val="95000"/>
                              <a:lumOff val="5000"/>
                            </a:schemeClr>
                          </a:solidFill>
                          <a:latin typeface="Arial" panose="020B0604020202020204" pitchFamily="34" charset="0"/>
                          <a:cs typeface="Arial" panose="020B0604020202020204" pitchFamily="34" charset="0"/>
                        </a:rPr>
                        <a:t>  Technology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dirty="0">
                          <a:solidFill>
                            <a:schemeClr val="tx1"/>
                          </a:solidFill>
                          <a:latin typeface="Arial" panose="020B0604020202020204" pitchFamily="34" charset="0"/>
                          <a:cs typeface="Arial" panose="020B0604020202020204" pitchFamily="34" charset="0"/>
                        </a:rPr>
                        <a:t>Role in the Project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106367"/>
                  </a:ext>
                </a:extLst>
              </a:tr>
              <a:tr h="771396">
                <a:tc>
                  <a:txBody>
                    <a:bodyPr/>
                    <a:lstStyle/>
                    <a:p>
                      <a:pPr algn="just"/>
                      <a:r>
                        <a:rPr lang="en-US" sz="2000" dirty="0">
                          <a:latin typeface="Arial" panose="020B0604020202020204" pitchFamily="34" charset="0"/>
                          <a:cs typeface="Arial" panose="020B0604020202020204" pitchFamily="34" charset="0"/>
                        </a:rPr>
                        <a:t>Web 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dirty="0">
                          <a:latin typeface="Arial" panose="020B0604020202020204" pitchFamily="34" charset="0"/>
                          <a:cs typeface="Arial" panose="020B0604020202020204" pitchFamily="34" charset="0"/>
                        </a:rPr>
                        <a:t>Flask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base" latinLnBrk="0"/>
                      <a:r>
                        <a:rPr lang="en-US" sz="2000" dirty="0">
                          <a:effectLst/>
                          <a:latin typeface="Arial" panose="020B0604020202020204" pitchFamily="34" charset="0"/>
                          <a:cs typeface="Arial" panose="020B0604020202020204" pitchFamily="34" charset="0"/>
                        </a:rPr>
                        <a:t>Main backend web server for routing, authentication, and UI logic</a:t>
                      </a:r>
                    </a:p>
                  </a:txBody>
                  <a:tcPr marL="50800" marR="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979384"/>
                  </a:ext>
                </a:extLst>
              </a:tr>
              <a:tr h="771396">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Database</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base" latinLnBrk="0"/>
                      <a:r>
                        <a:rPr lang="en-US" sz="2000" dirty="0">
                          <a:effectLst/>
                          <a:latin typeface="Arial" panose="020B0604020202020204" pitchFamily="34" charset="0"/>
                          <a:cs typeface="Arial" panose="020B0604020202020204" pitchFamily="34" charset="0"/>
                        </a:rPr>
                        <a:t>SQLite</a:t>
                      </a:r>
                    </a:p>
                  </a:txBody>
                  <a:tcPr marL="50800" marR="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Secure storage of user credentials, roles, and sessions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0758541"/>
                  </a:ext>
                </a:extLst>
              </a:tr>
              <a:tr h="771396">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Authentication</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JWT (</a:t>
                      </a:r>
                      <a:r>
                        <a:rPr lang="en-US" sz="2000" b="0" i="0" kern="1200" dirty="0" err="1">
                          <a:solidFill>
                            <a:schemeClr val="dk1"/>
                          </a:solidFill>
                          <a:effectLst/>
                          <a:latin typeface="Arial" panose="020B0604020202020204" pitchFamily="34" charset="0"/>
                          <a:ea typeface="+mn-ea"/>
                          <a:cs typeface="Arial" panose="020B0604020202020204" pitchFamily="34" charset="0"/>
                        </a:rPr>
                        <a:t>PyJWT</a:t>
                      </a:r>
                      <a:r>
                        <a:rPr lang="en-US" sz="2000" b="0" i="0" kern="1200" dirty="0">
                          <a:solidFill>
                            <a:schemeClr val="dk1"/>
                          </a:solidFill>
                          <a:effectLst/>
                          <a:latin typeface="Arial" panose="020B0604020202020204" pitchFamily="34" charset="0"/>
                          <a:ea typeface="+mn-ea"/>
                          <a:cs typeface="Arial" panose="020B0604020202020204" pitchFamily="34" charset="0"/>
                        </a:rPr>
                        <a:t>)</a:t>
                      </a:r>
                      <a:endParaRPr lang="en-US" sz="2000" dirty="0">
                        <a:solidFill>
                          <a:schemeClr val="bg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User authentication; role-based access; secure session management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850367"/>
                  </a:ext>
                </a:extLst>
              </a:tr>
              <a:tr h="771396">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Object Detection</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YOLOv8 (</a:t>
                      </a:r>
                      <a:r>
                        <a:rPr lang="en-US" sz="2000" b="0" i="0" kern="1200" dirty="0" err="1">
                          <a:solidFill>
                            <a:schemeClr val="dk1"/>
                          </a:solidFill>
                          <a:effectLst/>
                          <a:latin typeface="Arial" panose="020B0604020202020204" pitchFamily="34" charset="0"/>
                          <a:ea typeface="+mn-ea"/>
                          <a:cs typeface="Arial" panose="020B0604020202020204" pitchFamily="34" charset="0"/>
                        </a:rPr>
                        <a:t>Ultralytics</a:t>
                      </a:r>
                      <a:r>
                        <a:rPr lang="en-US" sz="2000" b="0" i="0" kern="1200" dirty="0">
                          <a:solidFill>
                            <a:schemeClr val="dk1"/>
                          </a:solidFill>
                          <a:effectLst/>
                          <a:latin typeface="Arial" panose="020B0604020202020204" pitchFamily="34" charset="0"/>
                          <a:ea typeface="+mn-ea"/>
                          <a:cs typeface="Arial" panose="020B0604020202020204" pitchFamily="34" charset="0"/>
                        </a:rPr>
                        <a: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The Deep Learning Model used to Detects people in video and image frames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523491"/>
                  </a:ext>
                </a:extLst>
              </a:tr>
              <a:tr h="771396">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Object Tracking</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err="1">
                          <a:solidFill>
                            <a:schemeClr val="dk1"/>
                          </a:solidFill>
                          <a:effectLst/>
                          <a:latin typeface="Arial" panose="020B0604020202020204" pitchFamily="34" charset="0"/>
                          <a:ea typeface="+mn-ea"/>
                          <a:cs typeface="Arial" panose="020B0604020202020204" pitchFamily="34" charset="0"/>
                        </a:rPr>
                        <a:t>ByteTrack</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Tracks detected people across frames for consistent zone counting</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116680"/>
                  </a:ext>
                </a:extLst>
              </a:tr>
              <a:tr h="771396">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Video/Image Input Processing</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r>
                        <a:rPr lang="en-US" sz="2000" b="0" i="0" kern="1200" dirty="0">
                          <a:solidFill>
                            <a:schemeClr val="dk1"/>
                          </a:solidFill>
                          <a:effectLst/>
                          <a:latin typeface="Arial" panose="020B0604020202020204" pitchFamily="34" charset="0"/>
                          <a:ea typeface="+mn-ea"/>
                          <a:cs typeface="Arial" panose="020B0604020202020204" pitchFamily="34" charset="0"/>
                        </a:rPr>
                        <a:t>OpenCV (cv2)</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base" latinLnBrk="0"/>
                      <a:r>
                        <a:rPr lang="en-US" sz="2000" dirty="0">
                          <a:effectLst/>
                          <a:latin typeface="Arial" panose="020B0604020202020204" pitchFamily="34" charset="0"/>
                          <a:cs typeface="Arial" panose="020B0604020202020204" pitchFamily="34" charset="0"/>
                        </a:rPr>
                        <a:t>Reads video/image files, processes frames, draws bounding boxes</a:t>
                      </a:r>
                    </a:p>
                  </a:txBody>
                  <a:tcPr marL="50800" marR="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239678"/>
                  </a:ext>
                </a:extLst>
              </a:tr>
            </a:tbl>
          </a:graphicData>
        </a:graphic>
      </p:graphicFrame>
    </p:spTree>
    <p:extLst>
      <p:ext uri="{BB962C8B-B14F-4D97-AF65-F5344CB8AC3E}">
        <p14:creationId xmlns:p14="http://schemas.microsoft.com/office/powerpoint/2010/main" val="3601951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61FC788F-0604-4548-93A8-0F522DFD08DB}"/>
              </a:ext>
            </a:extLst>
          </p:cNvPr>
          <p:cNvGraphicFramePr>
            <a:graphicFrameLocks noGrp="1"/>
          </p:cNvGraphicFramePr>
          <p:nvPr>
            <p:extLst>
              <p:ext uri="{D42A27DB-BD31-4B8C-83A1-F6EECF244321}">
                <p14:modId xmlns:p14="http://schemas.microsoft.com/office/powerpoint/2010/main" val="4077581047"/>
              </p:ext>
            </p:extLst>
          </p:nvPr>
        </p:nvGraphicFramePr>
        <p:xfrm>
          <a:off x="1011721" y="856647"/>
          <a:ext cx="8940802" cy="5102546"/>
        </p:xfrm>
        <a:graphic>
          <a:graphicData uri="http://schemas.openxmlformats.org/drawingml/2006/table">
            <a:tbl>
              <a:tblPr firstRow="1" bandRow="1">
                <a:tableStyleId>{5C22544A-7EE6-4342-B048-85BDC9FD1C3A}</a:tableStyleId>
              </a:tblPr>
              <a:tblGrid>
                <a:gridCol w="2388304">
                  <a:extLst>
                    <a:ext uri="{9D8B030D-6E8A-4147-A177-3AD203B41FA5}">
                      <a16:colId xmlns:a16="http://schemas.microsoft.com/office/drawing/2014/main" val="2815717966"/>
                    </a:ext>
                  </a:extLst>
                </a:gridCol>
                <a:gridCol w="2253553">
                  <a:extLst>
                    <a:ext uri="{9D8B030D-6E8A-4147-A177-3AD203B41FA5}">
                      <a16:colId xmlns:a16="http://schemas.microsoft.com/office/drawing/2014/main" val="2265541651"/>
                    </a:ext>
                  </a:extLst>
                </a:gridCol>
                <a:gridCol w="4298945">
                  <a:extLst>
                    <a:ext uri="{9D8B030D-6E8A-4147-A177-3AD203B41FA5}">
                      <a16:colId xmlns:a16="http://schemas.microsoft.com/office/drawing/2014/main" val="4190530856"/>
                    </a:ext>
                  </a:extLst>
                </a:gridCol>
              </a:tblGrid>
              <a:tr h="65547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panose="020B0604020202020204" pitchFamily="34" charset="0"/>
                          <a:cs typeface="Arial" panose="020B0604020202020204" pitchFamily="34" charset="0"/>
                        </a:rPr>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solidFill>
                            <a:schemeClr val="tx1">
                              <a:lumMod val="95000"/>
                              <a:lumOff val="5000"/>
                            </a:schemeClr>
                          </a:solidFill>
                          <a:latin typeface="Arial" panose="020B0604020202020204" pitchFamily="34" charset="0"/>
                          <a:cs typeface="Arial" panose="020B0604020202020204" pitchFamily="34" charset="0"/>
                        </a:rPr>
                        <a:t> Technology</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panose="020B0604020202020204" pitchFamily="34" charset="0"/>
                          <a:cs typeface="Arial" panose="020B0604020202020204" pitchFamily="34" charset="0"/>
                        </a:rPr>
                        <a:t>Role in the Project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5262450"/>
                  </a:ext>
                </a:extLst>
              </a:tr>
              <a:tr h="860308">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Data Visualization</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Matplotlib, Pandas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Generates charts, graphs, heatmaps, and CSV reports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9007283"/>
                  </a:ext>
                </a:extLst>
              </a:tr>
              <a:tr h="860308">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Front-End</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HTML, CSS, </a:t>
                      </a:r>
                      <a:r>
                        <a:rPr lang="en-US" sz="2000" b="0" i="0" kern="1200" dirty="0" err="1">
                          <a:solidFill>
                            <a:schemeClr val="dk1"/>
                          </a:solidFill>
                          <a:effectLst/>
                          <a:latin typeface="Arial" panose="020B0604020202020204" pitchFamily="34" charset="0"/>
                          <a:ea typeface="+mn-ea"/>
                          <a:cs typeface="Arial" panose="020B0604020202020204" pitchFamily="34" charset="0"/>
                        </a:rPr>
                        <a:t>javascript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Arial" panose="020B0604020202020204" pitchFamily="34" charset="0"/>
                          <a:cs typeface="Arial" panose="020B0604020202020204" pitchFamily="34" charset="0"/>
                        </a:rPr>
                        <a:t>Provide structure and styling for web pages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3832888"/>
                  </a:ext>
                </a:extLst>
              </a:tr>
              <a:tr h="860308">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Real-Time Video Streaming</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OpenCV, Flask (Response)</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Provides live object detection video streams in the browser</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205048"/>
                  </a:ext>
                </a:extLst>
              </a:tr>
              <a:tr h="860308">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Live &amp; Historic Analytics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latinLnBrk="0"/>
                      <a:r>
                        <a:rPr lang="en-US" sz="2000" dirty="0">
                          <a:effectLst/>
                          <a:latin typeface="Arial" panose="020B0604020202020204" pitchFamily="34" charset="0"/>
                          <a:cs typeface="Arial" panose="020B0604020202020204" pitchFamily="34" charset="0"/>
                        </a:rPr>
                        <a:t> Python + Visualization</a:t>
                      </a:r>
                    </a:p>
                  </a:txBody>
                  <a:tcPr marL="50800" marR="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Enables live zone counts, population trends, and report downloads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9813838"/>
                  </a:ext>
                </a:extLst>
              </a:tr>
              <a:tr h="860308">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User Management</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latinLnBrk="0"/>
                      <a:r>
                        <a:rPr lang="en-US" sz="2000" dirty="0">
                          <a:effectLst/>
                          <a:latin typeface="Arial" panose="020B0604020202020204" pitchFamily="34" charset="0"/>
                          <a:cs typeface="Arial" panose="020B0604020202020204" pitchFamily="34" charset="0"/>
                        </a:rPr>
                        <a:t>Flask, SQLite</a:t>
                      </a:r>
                    </a:p>
                  </a:txBody>
                  <a:tcPr marL="50800" marR="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i="0" kern="1200" dirty="0">
                          <a:solidFill>
                            <a:schemeClr val="dk1"/>
                          </a:solidFill>
                          <a:effectLst/>
                          <a:latin typeface="Arial" panose="020B0604020202020204" pitchFamily="34" charset="0"/>
                          <a:ea typeface="+mn-ea"/>
                          <a:cs typeface="Arial" panose="020B0604020202020204" pitchFamily="34" charset="0"/>
                        </a:rPr>
                        <a:t>Registration, login, user-role checks, and admin features</a:t>
                      </a:r>
                      <a:endParaRPr lang="en-US" sz="2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1481730"/>
                  </a:ext>
                </a:extLst>
              </a:tr>
            </a:tbl>
          </a:graphicData>
        </a:graphic>
      </p:graphicFrame>
    </p:spTree>
    <p:extLst>
      <p:ext uri="{BB962C8B-B14F-4D97-AF65-F5344CB8AC3E}">
        <p14:creationId xmlns:p14="http://schemas.microsoft.com/office/powerpoint/2010/main" val="51378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132D7-144D-47F6-A75C-E6BDC861AE03}"/>
              </a:ext>
            </a:extLst>
          </p:cNvPr>
          <p:cNvSpPr>
            <a:spLocks noGrp="1"/>
          </p:cNvSpPr>
          <p:nvPr>
            <p:ph type="title"/>
          </p:nvPr>
        </p:nvSpPr>
        <p:spPr>
          <a:xfrm>
            <a:off x="423356" y="255069"/>
            <a:ext cx="11029616" cy="562590"/>
          </a:xfrm>
        </p:spPr>
        <p:txBody>
          <a:bodyPr>
            <a:noAutofit/>
          </a:bodyPr>
          <a:lstStyle/>
          <a:p>
            <a:r>
              <a:rPr lang="en-US" sz="3200" b="1" dirty="0">
                <a:latin typeface="Arial" panose="020B0604020202020204" pitchFamily="34" charset="0"/>
                <a:cs typeface="Arial" panose="020B0604020202020204" pitchFamily="34" charset="0"/>
              </a:rPr>
              <a:t>RESULTS</a:t>
            </a:r>
            <a:endParaRPr lang="en-US" sz="3200" b="1" dirty="0"/>
          </a:p>
        </p:txBody>
      </p:sp>
      <p:pic>
        <p:nvPicPr>
          <p:cNvPr id="9" name="Content Placeholder 8">
            <a:extLst>
              <a:ext uri="{FF2B5EF4-FFF2-40B4-BE49-F238E27FC236}">
                <a16:creationId xmlns:a16="http://schemas.microsoft.com/office/drawing/2014/main" id="{8BA6D673-0E53-4EB8-9A4E-D1331E22E639}"/>
              </a:ext>
            </a:extLst>
          </p:cNvPr>
          <p:cNvPicPr>
            <a:picLocks noGrp="1" noChangeAspect="1"/>
          </p:cNvPicPr>
          <p:nvPr>
            <p:ph idx="1"/>
          </p:nvPr>
        </p:nvPicPr>
        <p:blipFill>
          <a:blip r:embed="rId2"/>
          <a:stretch>
            <a:fillRect/>
          </a:stretch>
        </p:blipFill>
        <p:spPr>
          <a:xfrm>
            <a:off x="364622" y="1882044"/>
            <a:ext cx="5573542" cy="4720887"/>
          </a:xfrm>
        </p:spPr>
      </p:pic>
      <p:pic>
        <p:nvPicPr>
          <p:cNvPr id="12" name="Picture 11">
            <a:extLst>
              <a:ext uri="{FF2B5EF4-FFF2-40B4-BE49-F238E27FC236}">
                <a16:creationId xmlns:a16="http://schemas.microsoft.com/office/drawing/2014/main" id="{DB02B358-6BEA-45C1-B035-64A8173349C0}"/>
              </a:ext>
            </a:extLst>
          </p:cNvPr>
          <p:cNvPicPr>
            <a:picLocks noChangeAspect="1"/>
          </p:cNvPicPr>
          <p:nvPr/>
        </p:nvPicPr>
        <p:blipFill>
          <a:blip r:embed="rId3"/>
          <a:stretch>
            <a:fillRect/>
          </a:stretch>
        </p:blipFill>
        <p:spPr>
          <a:xfrm>
            <a:off x="6186461" y="1882044"/>
            <a:ext cx="5074118" cy="4720887"/>
          </a:xfrm>
          <a:prstGeom prst="rect">
            <a:avLst/>
          </a:prstGeom>
        </p:spPr>
      </p:pic>
      <p:sp>
        <p:nvSpPr>
          <p:cNvPr id="14" name="TextBox 13">
            <a:extLst>
              <a:ext uri="{FF2B5EF4-FFF2-40B4-BE49-F238E27FC236}">
                <a16:creationId xmlns:a16="http://schemas.microsoft.com/office/drawing/2014/main" id="{AEC77139-AD7A-4798-8CAA-47FDB1BDC7CF}"/>
              </a:ext>
            </a:extLst>
          </p:cNvPr>
          <p:cNvSpPr txBox="1"/>
          <p:nvPr/>
        </p:nvSpPr>
        <p:spPr>
          <a:xfrm>
            <a:off x="417663" y="1057464"/>
            <a:ext cx="6097604" cy="584775"/>
          </a:xfrm>
          <a:prstGeom prst="rect">
            <a:avLst/>
          </a:prstGeom>
          <a:noFill/>
        </p:spPr>
        <p:txBody>
          <a:bodyPr wrap="square">
            <a:spAutoFit/>
          </a:bodyPr>
          <a:lstStyle/>
          <a:p>
            <a:r>
              <a:rPr lang="en-US" sz="3200" dirty="0">
                <a:latin typeface="Arial" panose="020B0604020202020204" pitchFamily="34" charset="0"/>
                <a:cs typeface="Arial" panose="020B0604020202020204" pitchFamily="34" charset="0"/>
              </a:rPr>
              <a:t>Milestone1</a:t>
            </a:r>
            <a:endParaRPr lang="en-US" sz="3200" dirty="0"/>
          </a:p>
        </p:txBody>
      </p:sp>
    </p:spTree>
    <p:extLst>
      <p:ext uri="{BB962C8B-B14F-4D97-AF65-F5344CB8AC3E}">
        <p14:creationId xmlns:p14="http://schemas.microsoft.com/office/powerpoint/2010/main" val="372245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9397AE-E0F7-4BE5-BFC3-FB107945CB74}"/>
              </a:ext>
            </a:extLst>
          </p:cNvPr>
          <p:cNvPicPr>
            <a:picLocks noGrp="1" noChangeAspect="1"/>
          </p:cNvPicPr>
          <p:nvPr>
            <p:ph idx="1"/>
          </p:nvPr>
        </p:nvPicPr>
        <p:blipFill>
          <a:blip r:embed="rId2"/>
          <a:stretch>
            <a:fillRect/>
          </a:stretch>
        </p:blipFill>
        <p:spPr>
          <a:xfrm>
            <a:off x="1367478" y="831403"/>
            <a:ext cx="7554335" cy="4925495"/>
          </a:xfrm>
        </p:spPr>
      </p:pic>
    </p:spTree>
    <p:extLst>
      <p:ext uri="{BB962C8B-B14F-4D97-AF65-F5344CB8AC3E}">
        <p14:creationId xmlns:p14="http://schemas.microsoft.com/office/powerpoint/2010/main" val="211410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FCCA89-4EAC-47FD-8CE0-EBD60898F5FB}"/>
              </a:ext>
            </a:extLst>
          </p:cNvPr>
          <p:cNvSpPr txBox="1"/>
          <p:nvPr/>
        </p:nvSpPr>
        <p:spPr>
          <a:xfrm>
            <a:off x="677334" y="385011"/>
            <a:ext cx="3118585"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Milestone2</a:t>
            </a:r>
          </a:p>
        </p:txBody>
      </p:sp>
      <p:pic>
        <p:nvPicPr>
          <p:cNvPr id="16" name="Picture 15">
            <a:extLst>
              <a:ext uri="{FF2B5EF4-FFF2-40B4-BE49-F238E27FC236}">
                <a16:creationId xmlns:a16="http://schemas.microsoft.com/office/drawing/2014/main" id="{333592C0-DEF6-4572-BEFA-DA5C0D1BC685}"/>
              </a:ext>
            </a:extLst>
          </p:cNvPr>
          <p:cNvPicPr>
            <a:picLocks noChangeAspect="1"/>
          </p:cNvPicPr>
          <p:nvPr/>
        </p:nvPicPr>
        <p:blipFill>
          <a:blip r:embed="rId2"/>
          <a:stretch>
            <a:fillRect/>
          </a:stretch>
        </p:blipFill>
        <p:spPr>
          <a:xfrm>
            <a:off x="5821120" y="3220467"/>
            <a:ext cx="5172000" cy="3351310"/>
          </a:xfrm>
          <a:prstGeom prst="rect">
            <a:avLst/>
          </a:prstGeom>
        </p:spPr>
      </p:pic>
      <p:pic>
        <p:nvPicPr>
          <p:cNvPr id="5" name="Picture 4">
            <a:extLst>
              <a:ext uri="{FF2B5EF4-FFF2-40B4-BE49-F238E27FC236}">
                <a16:creationId xmlns:a16="http://schemas.microsoft.com/office/drawing/2014/main" id="{814D5F87-AA73-4922-8AFF-8599CD288490}"/>
              </a:ext>
            </a:extLst>
          </p:cNvPr>
          <p:cNvPicPr>
            <a:picLocks noChangeAspect="1"/>
          </p:cNvPicPr>
          <p:nvPr/>
        </p:nvPicPr>
        <p:blipFill>
          <a:blip r:embed="rId3"/>
          <a:stretch>
            <a:fillRect/>
          </a:stretch>
        </p:blipFill>
        <p:spPr>
          <a:xfrm>
            <a:off x="5831280" y="269907"/>
            <a:ext cx="5172000" cy="2800566"/>
          </a:xfrm>
          <a:prstGeom prst="rect">
            <a:avLst/>
          </a:prstGeom>
        </p:spPr>
      </p:pic>
      <p:sp>
        <p:nvSpPr>
          <p:cNvPr id="14" name="TextBox 13">
            <a:extLst>
              <a:ext uri="{FF2B5EF4-FFF2-40B4-BE49-F238E27FC236}">
                <a16:creationId xmlns:a16="http://schemas.microsoft.com/office/drawing/2014/main" id="{05908DBD-2F70-4D82-A787-F6F6ED04E978}"/>
              </a:ext>
            </a:extLst>
          </p:cNvPr>
          <p:cNvSpPr txBox="1"/>
          <p:nvPr/>
        </p:nvSpPr>
        <p:spPr>
          <a:xfrm>
            <a:off x="297956" y="1670190"/>
            <a:ext cx="6654800" cy="461665"/>
          </a:xfrm>
          <a:prstGeom prst="rect">
            <a:avLst/>
          </a:prstGeom>
          <a:noFill/>
        </p:spPr>
        <p:txBody>
          <a:bodyPr wrap="square">
            <a:spAutoFit/>
          </a:bodyPr>
          <a:lstStyle/>
          <a:p>
            <a:pPr algn="l"/>
            <a:r>
              <a:rPr lang="en-US" sz="2400" i="0" dirty="0">
                <a:effectLst/>
                <a:latin typeface="Arial" panose="020B0604020202020204" pitchFamily="34" charset="0"/>
                <a:cs typeface="Arial" panose="020B0604020202020204" pitchFamily="34" charset="0"/>
              </a:rPr>
              <a:t>If Detections Exist</a:t>
            </a:r>
          </a:p>
        </p:txBody>
      </p:sp>
      <p:sp>
        <p:nvSpPr>
          <p:cNvPr id="18" name="TextBox 17">
            <a:extLst>
              <a:ext uri="{FF2B5EF4-FFF2-40B4-BE49-F238E27FC236}">
                <a16:creationId xmlns:a16="http://schemas.microsoft.com/office/drawing/2014/main" id="{95BF02EB-1830-4593-BD41-E5FD099F2F5C}"/>
              </a:ext>
            </a:extLst>
          </p:cNvPr>
          <p:cNvSpPr txBox="1"/>
          <p:nvPr/>
        </p:nvSpPr>
        <p:spPr>
          <a:xfrm>
            <a:off x="297956" y="2505670"/>
            <a:ext cx="4437673"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err="1">
                <a:latin typeface="Arial" panose="020B0604020202020204" pitchFamily="34" charset="0"/>
                <a:cs typeface="Arial" panose="020B0604020202020204" pitchFamily="34" charset="0"/>
              </a:rPr>
              <a:t>Track_id:</a:t>
            </a:r>
            <a:r>
              <a:rPr lang="en-US" sz="2000" b="0" i="0" dirty="0" err="1">
                <a:effectLst/>
                <a:latin typeface="Arial" panose="020B0604020202020204" pitchFamily="34" charset="0"/>
                <a:cs typeface="Arial" panose="020B0604020202020204" pitchFamily="34" charset="0"/>
              </a:rPr>
              <a:t>The</a:t>
            </a:r>
            <a:r>
              <a:rPr lang="en-US" sz="2000" b="0" i="0" dirty="0">
                <a:effectLst/>
                <a:latin typeface="Arial" panose="020B0604020202020204" pitchFamily="34" charset="0"/>
                <a:cs typeface="Arial" panose="020B0604020202020204" pitchFamily="34" charset="0"/>
              </a:rPr>
              <a:t> unique ID for the person (remains consistent as long as person is visible).</a:t>
            </a:r>
          </a:p>
          <a:p>
            <a:pPr marL="285750" indent="-285750">
              <a:buFont typeface="Arial" panose="020B0604020202020204" pitchFamily="34" charset="0"/>
              <a:buChar char="•"/>
            </a:pPr>
            <a:r>
              <a:rPr lang="en-US" sz="2000" dirty="0" err="1">
                <a:latin typeface="Arial" panose="020B0604020202020204" pitchFamily="34" charset="0"/>
                <a:cs typeface="Arial" panose="020B0604020202020204" pitchFamily="34" charset="0"/>
              </a:rPr>
              <a:t>Bouning</a:t>
            </a:r>
            <a:r>
              <a:rPr lang="en-US" sz="2000" dirty="0">
                <a:latin typeface="Arial" panose="020B0604020202020204" pitchFamily="34" charset="0"/>
                <a:cs typeface="Arial" panose="020B0604020202020204" pitchFamily="34" charset="0"/>
              </a:rPr>
              <a:t> box: </a:t>
            </a:r>
            <a:r>
              <a:rPr lang="en-US" sz="2000" b="0" i="0" dirty="0">
                <a:effectLst/>
                <a:latin typeface="Arial" panose="020B0604020202020204" pitchFamily="34" charset="0"/>
                <a:cs typeface="Arial" panose="020B0604020202020204" pitchFamily="34" charset="0"/>
              </a:rPr>
              <a:t>x1, y1, x2, y2</a:t>
            </a:r>
          </a:p>
          <a:p>
            <a:pPr marL="285750" indent="-285750">
              <a:buFont typeface="Arial" panose="020B0604020202020204" pitchFamily="34" charset="0"/>
              <a:buChar char="•"/>
            </a:pPr>
            <a:r>
              <a:rPr lang="en-US" sz="2000" dirty="0" err="1">
                <a:latin typeface="Arial" panose="020B0604020202020204" pitchFamily="34" charset="0"/>
                <a:cs typeface="Arial" panose="020B0604020202020204" pitchFamily="34" charset="0"/>
              </a:rPr>
              <a:t>Center:cx</a:t>
            </a:r>
            <a:r>
              <a:rPr lang="en-US" sz="2000" dirty="0">
                <a:latin typeface="Arial" panose="020B0604020202020204" pitchFamily="34" charset="0"/>
                <a:cs typeface="Arial" panose="020B0604020202020204" pitchFamily="34" charset="0"/>
              </a:rPr>
              <a:t>=(x1+x2)/2,   cy=(y1+y2)/2  for zone determination, visualization, and tracking</a:t>
            </a: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Add </a:t>
            </a:r>
            <a:r>
              <a:rPr lang="en-US" sz="2000" dirty="0" err="1">
                <a:latin typeface="Arial" panose="020B0604020202020204" pitchFamily="34" charset="0"/>
                <a:cs typeface="Arial" panose="020B0604020202020204" pitchFamily="34" charset="0"/>
              </a:rPr>
              <a:t>track_id</a:t>
            </a:r>
            <a:r>
              <a:rPr lang="en-US" sz="2000" dirty="0">
                <a:latin typeface="Arial" panose="020B0604020202020204" pitchFamily="34" charset="0"/>
                <a:cs typeface="Arial" panose="020B0604020202020204" pitchFamily="34" charset="0"/>
              </a:rPr>
              <a:t> to the video-wide set of unique IDs.</a:t>
            </a:r>
          </a:p>
          <a:p>
            <a:pPr marL="285750" indent="-285750">
              <a:buFont typeface="Arial" panose="020B0604020202020204" pitchFamily="34" charset="0"/>
              <a:buChar char="•"/>
            </a:pPr>
            <a:endParaRPr lang="en-US" sz="2000" b="0" i="0" dirty="0">
              <a:solidFill>
                <a:srgbClr val="4D4D4C"/>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7353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4DB7C15-D698-4683-B5EE-ACE0E7826EE3}"/>
              </a:ext>
            </a:extLst>
          </p:cNvPr>
          <p:cNvSpPr txBox="1"/>
          <p:nvPr/>
        </p:nvSpPr>
        <p:spPr>
          <a:xfrm>
            <a:off x="815743" y="360948"/>
            <a:ext cx="6097604" cy="584775"/>
          </a:xfrm>
          <a:prstGeom prst="rect">
            <a:avLst/>
          </a:prstGeom>
          <a:noFill/>
        </p:spPr>
        <p:txBody>
          <a:bodyPr wrap="square">
            <a:spAutoFit/>
          </a:bodyPr>
          <a:lstStyle/>
          <a:p>
            <a:r>
              <a:rPr lang="en-US" sz="3200" dirty="0">
                <a:latin typeface="Arial" panose="020B0604020202020204" pitchFamily="34" charset="0"/>
                <a:cs typeface="Arial" panose="020B0604020202020204" pitchFamily="34" charset="0"/>
              </a:rPr>
              <a:t>Milestone3</a:t>
            </a:r>
          </a:p>
        </p:txBody>
      </p:sp>
      <p:pic>
        <p:nvPicPr>
          <p:cNvPr id="11" name="Content Placeholder 3">
            <a:extLst>
              <a:ext uri="{FF2B5EF4-FFF2-40B4-BE49-F238E27FC236}">
                <a16:creationId xmlns:a16="http://schemas.microsoft.com/office/drawing/2014/main" id="{BE7FE31F-4041-432E-BAAE-9D2C68AFF609}"/>
              </a:ext>
            </a:extLst>
          </p:cNvPr>
          <p:cNvPicPr>
            <a:picLocks noChangeAspect="1"/>
          </p:cNvPicPr>
          <p:nvPr/>
        </p:nvPicPr>
        <p:blipFill>
          <a:blip r:embed="rId2"/>
          <a:stretch>
            <a:fillRect/>
          </a:stretch>
        </p:blipFill>
        <p:spPr>
          <a:xfrm>
            <a:off x="5364480" y="1219201"/>
            <a:ext cx="6417000" cy="4777372"/>
          </a:xfrm>
          <a:prstGeom prst="rect">
            <a:avLst/>
          </a:prstGeom>
        </p:spPr>
      </p:pic>
      <p:sp>
        <p:nvSpPr>
          <p:cNvPr id="2" name="TextBox 1">
            <a:extLst>
              <a:ext uri="{FF2B5EF4-FFF2-40B4-BE49-F238E27FC236}">
                <a16:creationId xmlns:a16="http://schemas.microsoft.com/office/drawing/2014/main" id="{1232FB26-9EC7-439D-A72D-9EF4B30C0E75}"/>
              </a:ext>
            </a:extLst>
          </p:cNvPr>
          <p:cNvSpPr txBox="1"/>
          <p:nvPr/>
        </p:nvSpPr>
        <p:spPr>
          <a:xfrm>
            <a:off x="410519" y="1524000"/>
            <a:ext cx="4883376" cy="4893647"/>
          </a:xfrm>
          <a:prstGeom prst="rect">
            <a:avLst/>
          </a:prstGeom>
          <a:noFill/>
        </p:spPr>
        <p:txBody>
          <a:bodyPr wrap="square" rtlCol="0">
            <a:spAutoFit/>
          </a:bodyPr>
          <a:lstStyle/>
          <a:p>
            <a:pPr marL="285750" indent="-28575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rPr>
              <a:t>Zone 1: If center is inside the defined rectangular zone, add to zone 1 set/list, draw bounding box in yellow.</a:t>
            </a:r>
          </a:p>
          <a:p>
            <a:pPr marL="285750" indent="-28575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rPr>
              <a:t>Zone 2: Otherwise, add to zone 2, draw bounding box in magenta.</a:t>
            </a:r>
          </a:p>
          <a:p>
            <a:pPr marL="285750" indent="-28575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rPr>
              <a:t>Label each tracked person with their unique track ID</a:t>
            </a:r>
          </a:p>
          <a:p>
            <a:pPr marL="285750" indent="-285750">
              <a:buFont typeface="Arial" panose="020B0604020202020204" pitchFamily="34" charset="0"/>
              <a:buChar char="•"/>
            </a:pPr>
            <a:r>
              <a:rPr lang="en-US" sz="2400" b="0" i="0" dirty="0">
                <a:effectLst/>
                <a:latin typeface="Arial" panose="020B0604020202020204" pitchFamily="34" charset="0"/>
                <a:cs typeface="Arial" panose="020B0604020202020204" pitchFamily="34" charset="0"/>
              </a:rPr>
              <a:t>If zone 1 is too crowded, add a big red alert at the bottom of the frame.</a:t>
            </a:r>
          </a:p>
          <a:p>
            <a:pPr marL="285750" indent="-285750">
              <a:buFont typeface="Arial" panose="020B0604020202020204" pitchFamily="34" charset="0"/>
              <a:buChar char="•"/>
            </a:pPr>
            <a:endParaRPr lang="en-US" sz="2400"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250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5245E0-3A55-427F-B6DF-70E41DB41505}"/>
              </a:ext>
            </a:extLst>
          </p:cNvPr>
          <p:cNvPicPr>
            <a:picLocks noChangeAspect="1"/>
          </p:cNvPicPr>
          <p:nvPr/>
        </p:nvPicPr>
        <p:blipFill>
          <a:blip r:embed="rId2"/>
          <a:stretch>
            <a:fillRect/>
          </a:stretch>
        </p:blipFill>
        <p:spPr>
          <a:xfrm>
            <a:off x="981183" y="1333098"/>
            <a:ext cx="7905789" cy="5043638"/>
          </a:xfrm>
          <a:prstGeom prst="rect">
            <a:avLst/>
          </a:prstGeom>
        </p:spPr>
      </p:pic>
      <p:sp>
        <p:nvSpPr>
          <p:cNvPr id="2" name="TextBox 1">
            <a:extLst>
              <a:ext uri="{FF2B5EF4-FFF2-40B4-BE49-F238E27FC236}">
                <a16:creationId xmlns:a16="http://schemas.microsoft.com/office/drawing/2014/main" id="{AB5E00FF-9D27-414B-9099-16F69668DF30}"/>
              </a:ext>
            </a:extLst>
          </p:cNvPr>
          <p:cNvSpPr txBox="1"/>
          <p:nvPr/>
        </p:nvSpPr>
        <p:spPr>
          <a:xfrm>
            <a:off x="981183" y="314003"/>
            <a:ext cx="3246121"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Visualizations</a:t>
            </a:r>
          </a:p>
        </p:txBody>
      </p:sp>
    </p:spTree>
    <p:extLst>
      <p:ext uri="{BB962C8B-B14F-4D97-AF65-F5344CB8AC3E}">
        <p14:creationId xmlns:p14="http://schemas.microsoft.com/office/powerpoint/2010/main" val="2244076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FCCA89-4EAC-47FD-8CE0-EBD60898F5FB}"/>
              </a:ext>
            </a:extLst>
          </p:cNvPr>
          <p:cNvSpPr txBox="1"/>
          <p:nvPr/>
        </p:nvSpPr>
        <p:spPr>
          <a:xfrm>
            <a:off x="677334" y="385011"/>
            <a:ext cx="3118585"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Milestone4</a:t>
            </a:r>
          </a:p>
        </p:txBody>
      </p:sp>
      <p:pic>
        <p:nvPicPr>
          <p:cNvPr id="9" name="Content Placeholder 8">
            <a:extLst>
              <a:ext uri="{FF2B5EF4-FFF2-40B4-BE49-F238E27FC236}">
                <a16:creationId xmlns:a16="http://schemas.microsoft.com/office/drawing/2014/main" id="{7762BD04-969B-4286-AD44-445C85FF36AC}"/>
              </a:ext>
            </a:extLst>
          </p:cNvPr>
          <p:cNvPicPr>
            <a:picLocks noGrp="1" noChangeAspect="1"/>
          </p:cNvPicPr>
          <p:nvPr>
            <p:ph idx="1"/>
          </p:nvPr>
        </p:nvPicPr>
        <p:blipFill>
          <a:blip r:embed="rId2"/>
          <a:stretch>
            <a:fillRect/>
          </a:stretch>
        </p:blipFill>
        <p:spPr>
          <a:xfrm>
            <a:off x="6010918" y="1412550"/>
            <a:ext cx="4182236" cy="4729638"/>
          </a:xfrm>
        </p:spPr>
      </p:pic>
      <p:pic>
        <p:nvPicPr>
          <p:cNvPr id="10" name="Content Placeholder 3">
            <a:extLst>
              <a:ext uri="{FF2B5EF4-FFF2-40B4-BE49-F238E27FC236}">
                <a16:creationId xmlns:a16="http://schemas.microsoft.com/office/drawing/2014/main" id="{ACC2E35E-BD97-4D5A-81D7-A50307137502}"/>
              </a:ext>
            </a:extLst>
          </p:cNvPr>
          <p:cNvPicPr>
            <a:picLocks noChangeAspect="1"/>
          </p:cNvPicPr>
          <p:nvPr/>
        </p:nvPicPr>
        <p:blipFill>
          <a:blip r:embed="rId3"/>
          <a:stretch>
            <a:fillRect/>
          </a:stretch>
        </p:blipFill>
        <p:spPr>
          <a:xfrm>
            <a:off x="1296510" y="1412550"/>
            <a:ext cx="3701032" cy="4729639"/>
          </a:xfrm>
          <a:prstGeom prst="rect">
            <a:avLst/>
          </a:prstGeom>
        </p:spPr>
      </p:pic>
    </p:spTree>
    <p:extLst>
      <p:ext uri="{BB962C8B-B14F-4D97-AF65-F5344CB8AC3E}">
        <p14:creationId xmlns:p14="http://schemas.microsoft.com/office/powerpoint/2010/main" val="2112253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E19AB-B73D-43E6-B1D0-A8DD09F74091}"/>
              </a:ext>
            </a:extLst>
          </p:cNvPr>
          <p:cNvSpPr>
            <a:spLocks noGrp="1"/>
          </p:cNvSpPr>
          <p:nvPr>
            <p:ph type="title"/>
          </p:nvPr>
        </p:nvSpPr>
        <p:spPr>
          <a:xfrm>
            <a:off x="581192" y="246588"/>
            <a:ext cx="11029616" cy="658842"/>
          </a:xfrm>
        </p:spPr>
        <p:txBody>
          <a:bodyPr>
            <a:normAutofit/>
          </a:bodyPr>
          <a:lstStyle/>
          <a:p>
            <a:r>
              <a:rPr lang="en-US" sz="3200" b="1" dirty="0">
                <a:latin typeface="Arial" panose="020B0604020202020204" pitchFamily="34" charset="0"/>
                <a:cs typeface="Arial" panose="020B0604020202020204" pitchFamily="34" charset="0"/>
              </a:rPr>
              <a:t>APPLICATIONS</a:t>
            </a:r>
            <a:endParaRPr lang="en-US" sz="3200" b="1" dirty="0"/>
          </a:p>
        </p:txBody>
      </p:sp>
      <p:sp>
        <p:nvSpPr>
          <p:cNvPr id="3" name="Content Placeholder 2">
            <a:extLst>
              <a:ext uri="{FF2B5EF4-FFF2-40B4-BE49-F238E27FC236}">
                <a16:creationId xmlns:a16="http://schemas.microsoft.com/office/drawing/2014/main" id="{ABA2ED99-E16E-471A-A411-84CC30F94C72}"/>
              </a:ext>
            </a:extLst>
          </p:cNvPr>
          <p:cNvSpPr>
            <a:spLocks noGrp="1"/>
          </p:cNvSpPr>
          <p:nvPr>
            <p:ph idx="1"/>
          </p:nvPr>
        </p:nvSpPr>
        <p:spPr>
          <a:xfrm>
            <a:off x="472106" y="1173794"/>
            <a:ext cx="9563835" cy="5506139"/>
          </a:xfrm>
        </p:spPr>
        <p:txBody>
          <a:bodyPr>
            <a:noAutofit/>
          </a:bodyPr>
          <a:lstStyle/>
          <a:p>
            <a:pPr algn="just"/>
            <a:r>
              <a:rPr lang="en-US" sz="2000" b="1" i="0" dirty="0">
                <a:effectLst/>
                <a:latin typeface="Arial" panose="020B0604020202020204" pitchFamily="34" charset="0"/>
                <a:cs typeface="Arial" panose="020B0604020202020204" pitchFamily="34" charset="0"/>
              </a:rPr>
              <a:t>Retail and Commercial Environments</a:t>
            </a:r>
            <a:r>
              <a:rPr lang="en-US" sz="2000" b="0" i="0" dirty="0">
                <a:effectLst/>
                <a:latin typeface="Arial" panose="020B0604020202020204" pitchFamily="34" charset="0"/>
                <a:cs typeface="Arial" panose="020B0604020202020204" pitchFamily="34" charset="0"/>
              </a:rPr>
              <a:t>: Analyze visitor density in malls, stores, and commercial venues to improve customer experience, optimize staffing, and reduce bottlenecks.​ Manage queues and adjust entry/exit flows based on live occupancy data.</a:t>
            </a:r>
          </a:p>
          <a:p>
            <a:pPr algn="just"/>
            <a:r>
              <a:rPr lang="en-US" sz="2000" b="1" i="0" dirty="0">
                <a:effectLst/>
                <a:latin typeface="Arial" panose="020B0604020202020204" pitchFamily="34" charset="0"/>
                <a:cs typeface="Arial" panose="020B0604020202020204" pitchFamily="34" charset="0"/>
              </a:rPr>
              <a:t>Public Safety and Event Management: </a:t>
            </a:r>
            <a:r>
              <a:rPr lang="en-US" sz="2000" b="0" i="0" dirty="0">
                <a:effectLst/>
                <a:latin typeface="Arial" panose="020B0604020202020204" pitchFamily="34" charset="0"/>
                <a:cs typeface="Arial" panose="020B0604020202020204" pitchFamily="34" charset="0"/>
              </a:rPr>
              <a:t>Monitor crowd density at large gatherings such as concerts, sporting events, and religious festivals to prevent overcrowding and stampedes. Detect unusual or risky behaviors and generate real-time alerts for security teams ​</a:t>
            </a:r>
          </a:p>
          <a:p>
            <a:pPr algn="just"/>
            <a:r>
              <a:rPr lang="en-US" sz="2000" b="1" i="0" dirty="0">
                <a:effectLst/>
                <a:latin typeface="Arial" panose="020B0604020202020204" pitchFamily="34" charset="0"/>
                <a:cs typeface="Arial" panose="020B0604020202020204" pitchFamily="34" charset="0"/>
              </a:rPr>
              <a:t>Transport Hubs and City Spaces: </a:t>
            </a:r>
            <a:r>
              <a:rPr lang="en-US" sz="2000" b="0" i="0" dirty="0">
                <a:effectLst/>
                <a:latin typeface="Arial" panose="020B0604020202020204" pitchFamily="34" charset="0"/>
                <a:cs typeface="Arial" panose="020B0604020202020204" pitchFamily="34" charset="0"/>
              </a:rPr>
              <a:t>Track crowd movement and occupancy at airports, train stations, and bus terminals for efficient resource allocation and congestion prevention Assist city planners in analyzing pedestrian flow and optimizing urban design for safer and more accessible public spaces.</a:t>
            </a:r>
          </a:p>
          <a:p>
            <a:pPr algn="just"/>
            <a:r>
              <a:rPr lang="en-US" sz="2000" b="1" i="0" dirty="0">
                <a:effectLst/>
                <a:latin typeface="Arial" panose="020B0604020202020204" pitchFamily="34" charset="0"/>
                <a:cs typeface="Arial" panose="020B0604020202020204" pitchFamily="34" charset="0"/>
              </a:rPr>
              <a:t>Threat Detection and Security</a:t>
            </a:r>
            <a:r>
              <a:rPr lang="en-US" sz="2000" b="1" dirty="0">
                <a:latin typeface="Arial" panose="020B0604020202020204" pitchFamily="34" charset="0"/>
                <a:cs typeface="Arial" panose="020B0604020202020204" pitchFamily="34" charset="0"/>
              </a:rPr>
              <a:t>: </a:t>
            </a:r>
            <a:r>
              <a:rPr lang="en-US" sz="2000" b="0" i="0" dirty="0">
                <a:effectLst/>
                <a:latin typeface="Arial" panose="020B0604020202020204" pitchFamily="34" charset="0"/>
                <a:cs typeface="Arial" panose="020B0604020202020204" pitchFamily="34" charset="0"/>
              </a:rPr>
              <a:t>Identify potential threats like overcrowding, stampedes, and abnormal crowd movements using AI and machine learning models</a:t>
            </a:r>
            <a:r>
              <a:rPr lang="en-US" sz="2000" dirty="0">
                <a:latin typeface="Arial" panose="020B0604020202020204" pitchFamily="34" charset="0"/>
                <a:cs typeface="Arial" panose="020B0604020202020204" pitchFamily="34" charset="0"/>
              </a:rPr>
              <a:t>. </a:t>
            </a:r>
            <a:r>
              <a:rPr lang="en-US" sz="2000" b="0" i="0" dirty="0">
                <a:effectLst/>
                <a:latin typeface="Arial" panose="020B0604020202020204" pitchFamily="34" charset="0"/>
                <a:cs typeface="Arial" panose="020B0604020202020204" pitchFamily="34" charset="0"/>
              </a:rPr>
              <a:t>Facilitate quick incident response by integrating alerts and logs with emergency services systems.</a:t>
            </a:r>
          </a:p>
          <a:p>
            <a:pPr algn="just"/>
            <a:endParaRPr lang="en-US" sz="2000"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8824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A2ED-BEFF-43D0-A25E-AD34FA6EEF36}"/>
              </a:ext>
            </a:extLst>
          </p:cNvPr>
          <p:cNvSpPr>
            <a:spLocks noGrp="1"/>
          </p:cNvSpPr>
          <p:nvPr>
            <p:ph type="title"/>
          </p:nvPr>
        </p:nvSpPr>
        <p:spPr>
          <a:xfrm>
            <a:off x="581192" y="309150"/>
            <a:ext cx="11029616" cy="591465"/>
          </a:xfrm>
        </p:spPr>
        <p:txBody>
          <a:bodyPr>
            <a:normAutofit/>
          </a:bodyPr>
          <a:lstStyle/>
          <a:p>
            <a:r>
              <a:rPr lang="en-US" sz="3200" b="1" dirty="0">
                <a:latin typeface="Arial" panose="020B0604020202020204" pitchFamily="34" charset="0"/>
                <a:cs typeface="Arial" panose="020B0604020202020204" pitchFamily="34" charset="0"/>
              </a:rPr>
              <a:t>FUTURE ENHANCEMENT</a:t>
            </a:r>
            <a:endParaRPr lang="en-US" sz="3200" b="1" dirty="0"/>
          </a:p>
        </p:txBody>
      </p:sp>
      <p:sp>
        <p:nvSpPr>
          <p:cNvPr id="3" name="Content Placeholder 2">
            <a:extLst>
              <a:ext uri="{FF2B5EF4-FFF2-40B4-BE49-F238E27FC236}">
                <a16:creationId xmlns:a16="http://schemas.microsoft.com/office/drawing/2014/main" id="{2F2F1C32-5536-467D-8B85-E43940C129F1}"/>
              </a:ext>
            </a:extLst>
          </p:cNvPr>
          <p:cNvSpPr>
            <a:spLocks noGrp="1"/>
          </p:cNvSpPr>
          <p:nvPr>
            <p:ph idx="1"/>
          </p:nvPr>
        </p:nvSpPr>
        <p:spPr>
          <a:xfrm>
            <a:off x="581191" y="1265438"/>
            <a:ext cx="9400207" cy="5283411"/>
          </a:xfrm>
        </p:spPr>
        <p:txBody>
          <a:bodyPr>
            <a:noAutofit/>
          </a:bodyPr>
          <a:lstStyle/>
          <a:p>
            <a:r>
              <a:rPr lang="en-US" sz="2000" b="0" i="0" dirty="0">
                <a:effectLst/>
                <a:latin typeface="Arial" panose="020B0604020202020204" pitchFamily="34" charset="0"/>
                <a:cs typeface="Arial" panose="020B0604020202020204" pitchFamily="34" charset="0"/>
              </a:rPr>
              <a:t>Sensor Fusion and IoT Integration: Connect multiple sensor types—such as cameras, LiDAR, thermal imaging, Wi-Fi, and RFID—to deliver more accurate crowd analysis, location tracking, and environmental awareness in real time.</a:t>
            </a:r>
          </a:p>
          <a:p>
            <a:r>
              <a:rPr lang="en-US" sz="2000" b="0" i="0" dirty="0">
                <a:effectLst/>
                <a:latin typeface="Arial" panose="020B0604020202020204" pitchFamily="34" charset="0"/>
                <a:cs typeface="Arial" panose="020B0604020202020204" pitchFamily="34" charset="0"/>
              </a:rPr>
              <a:t>Behavior Analysis Beyond Counting: Enhance crowd analytics to recognize specific behaviors, sentiments, or anomalies (e.g., panic, aggression, distress) by integrating deep learning models capable of complex activity recognition.</a:t>
            </a:r>
            <a:endParaRPr lang="en-US" sz="2000" dirty="0">
              <a:latin typeface="Arial" panose="020B0604020202020204" pitchFamily="34" charset="0"/>
              <a:cs typeface="Arial" panose="020B0604020202020204" pitchFamily="34" charset="0"/>
            </a:endParaRPr>
          </a:p>
          <a:p>
            <a:r>
              <a:rPr lang="en-US" sz="2000" b="0" i="0" dirty="0">
                <a:effectLst/>
                <a:latin typeface="Arial" panose="020B0604020202020204" pitchFamily="34" charset="0"/>
                <a:cs typeface="Arial" panose="020B0604020202020204" pitchFamily="34" charset="0"/>
              </a:rPr>
              <a:t>Edge Computing &amp; Real-Time Response: Employ edge computing with 5G connectivity to process video and sensor data directly at the source, reducing latency and enabling instant alerts and interventions during large-scale events.</a:t>
            </a:r>
          </a:p>
          <a:p>
            <a:r>
              <a:rPr lang="en-US" sz="2000" b="0" i="0" dirty="0">
                <a:effectLst/>
                <a:latin typeface="Arial" panose="020B0604020202020204" pitchFamily="34" charset="0"/>
                <a:cs typeface="Arial" panose="020B0604020202020204" pitchFamily="34" charset="0"/>
              </a:rPr>
              <a:t>AI-Powered Predictive Analytics: Integrate advanced AI models that use historical and real-time data to forecast crowd behaviors, movement patterns, and potential risks, enabling proactive safety measures and optimized event planning.</a:t>
            </a:r>
          </a:p>
        </p:txBody>
      </p:sp>
    </p:spTree>
    <p:extLst>
      <p:ext uri="{BB962C8B-B14F-4D97-AF65-F5344CB8AC3E}">
        <p14:creationId xmlns:p14="http://schemas.microsoft.com/office/powerpoint/2010/main" val="2401659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64653-F245-4D5E-B55D-AB3564E23840}"/>
              </a:ext>
            </a:extLst>
          </p:cNvPr>
          <p:cNvSpPr>
            <a:spLocks noGrp="1"/>
          </p:cNvSpPr>
          <p:nvPr>
            <p:ph type="title"/>
          </p:nvPr>
        </p:nvSpPr>
        <p:spPr>
          <a:xfrm>
            <a:off x="581192" y="391761"/>
            <a:ext cx="11029616" cy="610716"/>
          </a:xfrm>
        </p:spPr>
        <p:txBody>
          <a:bodyPr/>
          <a:lstStyle/>
          <a:p>
            <a:r>
              <a:rPr lang="en-US" sz="3200" b="1" dirty="0">
                <a:latin typeface="Arial" panose="020B0604020202020204" pitchFamily="34" charset="0"/>
                <a:cs typeface="Arial" panose="020B0604020202020204" pitchFamily="34" charset="0"/>
              </a:rPr>
              <a:t>CONCLUSION</a:t>
            </a:r>
            <a:endParaRPr lang="en-US" b="1" dirty="0"/>
          </a:p>
        </p:txBody>
      </p:sp>
      <p:sp>
        <p:nvSpPr>
          <p:cNvPr id="3" name="Content Placeholder 2">
            <a:extLst>
              <a:ext uri="{FF2B5EF4-FFF2-40B4-BE49-F238E27FC236}">
                <a16:creationId xmlns:a16="http://schemas.microsoft.com/office/drawing/2014/main" id="{D2432187-5309-46A5-B573-705EF13421F3}"/>
              </a:ext>
            </a:extLst>
          </p:cNvPr>
          <p:cNvSpPr>
            <a:spLocks noGrp="1"/>
          </p:cNvSpPr>
          <p:nvPr>
            <p:ph idx="1"/>
          </p:nvPr>
        </p:nvSpPr>
        <p:spPr>
          <a:xfrm>
            <a:off x="889199" y="1534947"/>
            <a:ext cx="8918943" cy="4586721"/>
          </a:xfrm>
        </p:spPr>
        <p:txBody>
          <a:bodyPr>
            <a:noAutofit/>
          </a:bodyPr>
          <a:lstStyle/>
          <a:p>
            <a:pPr marL="0" indent="0" algn="just">
              <a:buNone/>
            </a:pPr>
            <a:r>
              <a:rPr lang="en-US" sz="2000" b="0" i="0" dirty="0">
                <a:effectLst/>
                <a:latin typeface="Arial" panose="020B0604020202020204" pitchFamily="34" charset="0"/>
                <a:cs typeface="Arial" panose="020B0604020202020204" pitchFamily="34" charset="0"/>
              </a:rPr>
              <a:t>           This project successfully demonstrates an automated, real-time crowd analysis system utilizing deep learning and computer vision techniques such as YOLO and </a:t>
            </a:r>
            <a:r>
              <a:rPr lang="en-US" sz="2000" b="0" i="0" dirty="0" err="1">
                <a:effectLst/>
                <a:latin typeface="Arial" panose="020B0604020202020204" pitchFamily="34" charset="0"/>
                <a:cs typeface="Arial" panose="020B0604020202020204" pitchFamily="34" charset="0"/>
              </a:rPr>
              <a:t>ByteTrack</a:t>
            </a:r>
            <a:r>
              <a:rPr lang="en-US" sz="2000" b="0" i="0" dirty="0">
                <a:effectLst/>
                <a:latin typeface="Arial" panose="020B0604020202020204" pitchFamily="34" charset="0"/>
                <a:cs typeface="Arial" panose="020B0604020202020204" pitchFamily="34" charset="0"/>
              </a:rPr>
              <a:t>. The system achieves accurate detection, tracking, and zone-based counting of individuals in live video, webcam, and image feeds. By integrating a secure Flask web interface, users are able to upload media, view live analytics, generate heatmaps, and download detailed CSV reports—all contributing to enhanced crowd management and public safety. The clear results and flexible architecture highlight the project’s usefulness across various applications, including event security, urban planning, and real-time monitoring. With continued refinement and advanced analytics, this work lays a strong foundation for future enhancements and broader deployment in smart environments.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0764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12FF4DF-C5C3-4B50-94C8-7B363268B4BB}"/>
              </a:ext>
            </a:extLst>
          </p:cNvPr>
          <p:cNvSpPr txBox="1"/>
          <p:nvPr/>
        </p:nvSpPr>
        <p:spPr>
          <a:xfrm flipH="1">
            <a:off x="3166711" y="2233061"/>
            <a:ext cx="5197641" cy="2123658"/>
          </a:xfrm>
          <a:prstGeom prst="rect">
            <a:avLst/>
          </a:prstGeom>
          <a:noFill/>
        </p:spPr>
        <p:txBody>
          <a:bodyPr wrap="square" rtlCol="0">
            <a:spAutoFit/>
          </a:bodyPr>
          <a:lstStyle/>
          <a:p>
            <a:r>
              <a:rPr lang="en-US" sz="6600" b="1" dirty="0">
                <a:solidFill>
                  <a:schemeClr val="accent1">
                    <a:lumMod val="75000"/>
                  </a:schemeClr>
                </a:solidFill>
                <a:latin typeface="Arial" panose="020B0604020202020204" pitchFamily="34" charset="0"/>
                <a:cs typeface="Arial" panose="020B0604020202020204" pitchFamily="34" charset="0"/>
              </a:rPr>
              <a:t>THANK </a:t>
            </a:r>
          </a:p>
          <a:p>
            <a:r>
              <a:rPr lang="en-US" sz="6600" b="1" dirty="0">
                <a:solidFill>
                  <a:schemeClr val="accent1">
                    <a:lumMod val="75000"/>
                  </a:schemeClr>
                </a:solidFill>
                <a:latin typeface="Arial" panose="020B0604020202020204" pitchFamily="34" charset="0"/>
                <a:cs typeface="Arial" panose="020B0604020202020204" pitchFamily="34" charset="0"/>
              </a:rPr>
              <a:t>       YOU</a:t>
            </a:r>
          </a:p>
        </p:txBody>
      </p:sp>
      <p:sp>
        <p:nvSpPr>
          <p:cNvPr id="12" name="Rectangle 1">
            <a:extLst>
              <a:ext uri="{FF2B5EF4-FFF2-40B4-BE49-F238E27FC236}">
                <a16:creationId xmlns:a16="http://schemas.microsoft.com/office/drawing/2014/main" id="{428BBAEB-C94A-4DBF-B404-86F3D43E6AE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0859284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2330</TotalTime>
  <Words>1155</Words>
  <Application>Microsoft Office PowerPoint</Application>
  <PresentationFormat>Widescreen</PresentationFormat>
  <Paragraphs>106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Trebuchet MS</vt:lpstr>
      <vt:lpstr>Wingdings 3</vt:lpstr>
      <vt:lpstr>Facet</vt:lpstr>
      <vt:lpstr>Crowd Count</vt:lpstr>
      <vt:lpstr>      CONTENTS</vt:lpstr>
      <vt:lpstr>  INTRODUCTION</vt:lpstr>
      <vt:lpstr>PROBLEM STATEMENT</vt:lpstr>
      <vt:lpstr>OBJECTIVES</vt:lpstr>
      <vt:lpstr>PROPOSED MODEL</vt:lpstr>
      <vt:lpstr>TOOLS AND TECHNOLOGIES </vt:lpstr>
      <vt:lpstr>PowerPoint Presentation</vt:lpstr>
      <vt:lpstr>RESULTS</vt:lpstr>
      <vt:lpstr>PowerPoint Presentation</vt:lpstr>
      <vt:lpstr>PowerPoint Presentation</vt:lpstr>
      <vt:lpstr>PowerPoint Presentation</vt:lpstr>
      <vt:lpstr>PowerPoint Presentation</vt:lpstr>
      <vt:lpstr>PowerPoint Presentation</vt:lpstr>
      <vt:lpstr>APPLICATIONS</vt:lpstr>
      <vt:lpstr>FUTURE ENHANCEMENT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Shanta Angadageri</dc:creator>
  <cp:lastModifiedBy>Shanta Angadageri</cp:lastModifiedBy>
  <cp:revision>63</cp:revision>
  <dcterms:created xsi:type="dcterms:W3CDTF">2025-11-11T06:01:44Z</dcterms:created>
  <dcterms:modified xsi:type="dcterms:W3CDTF">2025-11-14T15:04:04Z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